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Sofie just inherited the Brouwerij Van Dessel portfolio, and the first client question is already waiting: what indexation in January? Her search finds three documents and a Teams message. They say 2.13%, 2.21% and 'February'.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AI search retrieves a handful of chunks and blends them into one confident answer: a forecast looks exactly as relevant as the final figure. A knowledge graph connects things, but somebody has to draw that map and keep it current. So we built something that reads everything first. It starts as one agent, and when it knows too much to keep in mind at once, it divides like a cell.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splits by joint committee, by client and by country, and it writes down why. Nobody drew this map by hand. Each specialist keeps its whole domain in view, so it notices when two sources disagree while it is still reading. Here it's a forecast of 2.13% against the final 2.21%. The swarm sends Jan, who owns PC 200, only the questions he can settle, and shows what they affect: one client config still uses the old number. He confirms it, and from then on everyone gets the verified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it on 102 documents with 21 planted contradictions. Mitosis answered 78% of the golden questions correctly, against 61% for a plain chatbot on the same documents. It surfaced 19 of the 21 contradictions before anyone asked. Client data stays with the client: zero leaks. And a document that tries to give the AI instructions gets quarantined; the plain chatbot followed it once. 85% of routing needs no AI call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June 2026 SD Worx put its payroll consultants on AI agents that retrieve knowledge. More AI answers means more answers that sound sure and are wrong. We start with one joint committee and one team, PC 200, then all joint committees, then the 27 countries, then client-facing inside mysdworx. SD Worx already has agents that find information. Mitosis is what lets people trust what they find. Find it. Understand it. Trust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424"/>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nchor="t">
            <a:spAutoFit/>
          </a:bodyPr>
          <a:lstStyle/>
          <a:p>
            <a:pPr algn="l"/>
            <a:r>
              <a:rPr sz="1200" b="1" i="0">
                <a:solidFill>
                  <a:srgbClr val="5EE6D0"/>
                </a:solidFill>
                <a:latin typeface="Arial"/>
              </a:rPr>
              <a:t>MITOSIS</a:t>
            </a:r>
            <a:r>
              <a:rPr sz="1200" b="0" i="0">
                <a:solidFill>
                  <a:srgbClr val="8A9AB0"/>
                </a:solidFill>
                <a:latin typeface="Arial"/>
              </a:rPr>
              <a:t>   Monday, 8:40. Sofie inherits Brouwerij Van Dessel.</a:t>
            </a:r>
          </a:p>
        </p:txBody>
      </p:sp>
      <p:sp>
        <p:nvSpPr>
          <p:cNvPr id="3" name="TextBox 2"/>
          <p:cNvSpPr txBox="1"/>
          <p:nvPr/>
        </p:nvSpPr>
        <p:spPr>
          <a:xfrm>
            <a:off x="640080" y="1234440"/>
            <a:ext cx="10972800" cy="1097280"/>
          </a:xfrm>
          <a:prstGeom prst="rect">
            <a:avLst/>
          </a:prstGeom>
          <a:noFill/>
        </p:spPr>
        <p:txBody>
          <a:bodyPr wrap="square" lIns="0" rIns="0" tIns="0" bIns="0" anchor="t">
            <a:spAutoFit/>
          </a:bodyPr>
          <a:lstStyle/>
          <a:p>
            <a:pPr algn="l"/>
            <a:r>
              <a:rPr sz="4600" b="1" i="0">
                <a:solidFill>
                  <a:srgbClr val="E8EEF5"/>
                </a:solidFill>
                <a:latin typeface="Arial"/>
              </a:rPr>
              <a:t>Three documents. Three answers.</a:t>
            </a:r>
          </a:p>
        </p:txBody>
      </p:sp>
      <p:sp>
        <p:nvSpPr>
          <p:cNvPr id="4" name="TextBox 3"/>
          <p:cNvSpPr txBox="1"/>
          <p:nvPr/>
        </p:nvSpPr>
        <p:spPr>
          <a:xfrm>
            <a:off x="640080" y="2240280"/>
            <a:ext cx="10058400" cy="457200"/>
          </a:xfrm>
          <a:prstGeom prst="rect">
            <a:avLst/>
          </a:prstGeom>
          <a:noFill/>
        </p:spPr>
        <p:txBody>
          <a:bodyPr wrap="square" lIns="0" rIns="0" tIns="0" bIns="0" anchor="t">
            <a:spAutoFit/>
          </a:bodyPr>
          <a:lstStyle/>
          <a:p>
            <a:pPr algn="l"/>
            <a:r>
              <a:rPr sz="2200" b="0" i="0">
                <a:solidFill>
                  <a:srgbClr val="8A9AB0"/>
                </a:solidFill>
                <a:latin typeface="Arial"/>
              </a:rPr>
              <a:t>“Which indexation applies in January?”</a:t>
            </a:r>
          </a:p>
        </p:txBody>
      </p:sp>
      <p:sp>
        <p:nvSpPr>
          <p:cNvPr id="5" name="Rounded Rectangle 4"/>
          <p:cNvSpPr/>
          <p:nvPr/>
        </p:nvSpPr>
        <p:spPr>
          <a:xfrm>
            <a:off x="640080" y="3246120"/>
            <a:ext cx="3429000" cy="237744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lded Corner 5"/>
          <p:cNvSpPr/>
          <p:nvPr/>
        </p:nvSpPr>
        <p:spPr>
          <a:xfrm>
            <a:off x="1005840" y="3611879"/>
            <a:ext cx="384048" cy="475488"/>
          </a:xfrm>
          <a:prstGeom prst="foldedCorner">
            <a:avLst/>
          </a:prstGeom>
          <a:solidFill>
            <a:srgbClr val="12263F"/>
          </a:solidFill>
          <a:ln w="19050">
            <a:solidFill>
              <a:srgbClr val="F5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3630168"/>
            <a:ext cx="2331720" cy="457200"/>
          </a:xfrm>
          <a:prstGeom prst="rect">
            <a:avLst/>
          </a:prstGeom>
          <a:noFill/>
        </p:spPr>
        <p:txBody>
          <a:bodyPr wrap="square" lIns="0" rIns="0" tIns="0" bIns="0" anchor="t">
            <a:spAutoFit/>
          </a:bodyPr>
          <a:lstStyle/>
          <a:p>
            <a:pPr algn="l"/>
            <a:r>
              <a:rPr sz="1400" b="0" i="0">
                <a:solidFill>
                  <a:srgbClr val="8A9AB0"/>
                </a:solidFill>
                <a:latin typeface="Arial"/>
              </a:rPr>
              <a:t>Forecast</a:t>
            </a:r>
          </a:p>
        </p:txBody>
      </p:sp>
      <p:sp>
        <p:nvSpPr>
          <p:cNvPr id="8" name="TextBox 7"/>
          <p:cNvSpPr txBox="1"/>
          <p:nvPr/>
        </p:nvSpPr>
        <p:spPr>
          <a:xfrm>
            <a:off x="1554480" y="3849624"/>
            <a:ext cx="2331720" cy="365760"/>
          </a:xfrm>
          <a:prstGeom prst="rect">
            <a:avLst/>
          </a:prstGeom>
          <a:noFill/>
        </p:spPr>
        <p:txBody>
          <a:bodyPr wrap="square" lIns="0" rIns="0" tIns="0" bIns="0" anchor="t">
            <a:spAutoFit/>
          </a:bodyPr>
          <a:lstStyle/>
          <a:p>
            <a:pPr algn="l"/>
            <a:r>
              <a:rPr sz="1200" b="0" i="0">
                <a:solidFill>
                  <a:srgbClr val="8A9AB0"/>
                </a:solidFill>
                <a:latin typeface="Arial"/>
              </a:rPr>
              <a:t>Pro-Pay, 14 Oct</a:t>
            </a:r>
          </a:p>
        </p:txBody>
      </p:sp>
      <p:sp>
        <p:nvSpPr>
          <p:cNvPr id="9" name="TextBox 8"/>
          <p:cNvSpPr txBox="1"/>
          <p:nvPr/>
        </p:nvSpPr>
        <p:spPr>
          <a:xfrm>
            <a:off x="1005840" y="4389120"/>
            <a:ext cx="2697480" cy="914400"/>
          </a:xfrm>
          <a:prstGeom prst="rect">
            <a:avLst/>
          </a:prstGeom>
          <a:noFill/>
        </p:spPr>
        <p:txBody>
          <a:bodyPr wrap="square" lIns="0" rIns="0" tIns="0" bIns="0" anchor="t">
            <a:spAutoFit/>
          </a:bodyPr>
          <a:lstStyle/>
          <a:p>
            <a:pPr algn="l"/>
            <a:r>
              <a:rPr sz="4800" b="1" i="0">
                <a:solidFill>
                  <a:srgbClr val="F5B84B"/>
                </a:solidFill>
                <a:latin typeface="Arial"/>
              </a:rPr>
              <a:t>2.13%</a:t>
            </a:r>
          </a:p>
        </p:txBody>
      </p:sp>
      <p:sp>
        <p:nvSpPr>
          <p:cNvPr id="10" name="Rounded Rectangle 9"/>
          <p:cNvSpPr/>
          <p:nvPr/>
        </p:nvSpPr>
        <p:spPr>
          <a:xfrm>
            <a:off x="4480560" y="3246120"/>
            <a:ext cx="3429000" cy="237744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lded Corner 10"/>
          <p:cNvSpPr/>
          <p:nvPr/>
        </p:nvSpPr>
        <p:spPr>
          <a:xfrm>
            <a:off x="4846320" y="3611879"/>
            <a:ext cx="384048" cy="475488"/>
          </a:xfrm>
          <a:prstGeom prst="foldedCorner">
            <a:avLst/>
          </a:prstGeom>
          <a:solidFill>
            <a:srgbClr val="12263F"/>
          </a:solidFill>
          <a:ln w="1905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3630168"/>
            <a:ext cx="2331720" cy="457200"/>
          </a:xfrm>
          <a:prstGeom prst="rect">
            <a:avLst/>
          </a:prstGeom>
          <a:noFill/>
        </p:spPr>
        <p:txBody>
          <a:bodyPr wrap="square" lIns="0" rIns="0" tIns="0" bIns="0" anchor="t">
            <a:spAutoFit/>
          </a:bodyPr>
          <a:lstStyle/>
          <a:p>
            <a:pPr algn="l"/>
            <a:r>
              <a:rPr sz="1400" b="0" i="0">
                <a:solidFill>
                  <a:srgbClr val="8A9AB0"/>
                </a:solidFill>
                <a:latin typeface="Arial"/>
              </a:rPr>
              <a:t>Final figure</a:t>
            </a:r>
          </a:p>
        </p:txBody>
      </p:sp>
      <p:sp>
        <p:nvSpPr>
          <p:cNvPr id="13" name="TextBox 12"/>
          <p:cNvSpPr txBox="1"/>
          <p:nvPr/>
        </p:nvSpPr>
        <p:spPr>
          <a:xfrm>
            <a:off x="5394960" y="3849624"/>
            <a:ext cx="2331720" cy="365760"/>
          </a:xfrm>
          <a:prstGeom prst="rect">
            <a:avLst/>
          </a:prstGeom>
          <a:noFill/>
        </p:spPr>
        <p:txBody>
          <a:bodyPr wrap="square" lIns="0" rIns="0" tIns="0" bIns="0" anchor="t">
            <a:spAutoFit/>
          </a:bodyPr>
          <a:lstStyle/>
          <a:p>
            <a:pPr algn="l"/>
            <a:r>
              <a:rPr sz="1200" b="0" i="0">
                <a:solidFill>
                  <a:srgbClr val="8A9AB0"/>
                </a:solidFill>
                <a:latin typeface="Arial"/>
              </a:rPr>
              <a:t>Agoria, 22 Dec</a:t>
            </a:r>
          </a:p>
        </p:txBody>
      </p:sp>
      <p:sp>
        <p:nvSpPr>
          <p:cNvPr id="14" name="TextBox 13"/>
          <p:cNvSpPr txBox="1"/>
          <p:nvPr/>
        </p:nvSpPr>
        <p:spPr>
          <a:xfrm>
            <a:off x="4846320" y="4389120"/>
            <a:ext cx="2697480" cy="914400"/>
          </a:xfrm>
          <a:prstGeom prst="rect">
            <a:avLst/>
          </a:prstGeom>
          <a:noFill/>
        </p:spPr>
        <p:txBody>
          <a:bodyPr wrap="square" lIns="0" rIns="0" tIns="0" bIns="0" anchor="t">
            <a:spAutoFit/>
          </a:bodyPr>
          <a:lstStyle/>
          <a:p>
            <a:pPr algn="l"/>
            <a:r>
              <a:rPr sz="4800" b="1" i="0">
                <a:solidFill>
                  <a:srgbClr val="4ADE80"/>
                </a:solidFill>
                <a:latin typeface="Arial"/>
              </a:rPr>
              <a:t>2.21%</a:t>
            </a:r>
          </a:p>
        </p:txBody>
      </p:sp>
      <p:sp>
        <p:nvSpPr>
          <p:cNvPr id="15" name="Rounded Rectangle 14"/>
          <p:cNvSpPr/>
          <p:nvPr/>
        </p:nvSpPr>
        <p:spPr>
          <a:xfrm>
            <a:off x="8321040" y="3246120"/>
            <a:ext cx="3429000" cy="237744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olded Corner 15"/>
          <p:cNvSpPr/>
          <p:nvPr/>
        </p:nvSpPr>
        <p:spPr>
          <a:xfrm>
            <a:off x="8686800" y="3611879"/>
            <a:ext cx="384048" cy="475488"/>
          </a:xfrm>
          <a:prstGeom prst="foldedCorner">
            <a:avLst/>
          </a:prstGeom>
          <a:solidFill>
            <a:srgbClr val="12263F"/>
          </a:solidFill>
          <a:ln w="19050">
            <a:solidFill>
              <a:srgbClr val="F25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3630168"/>
            <a:ext cx="2331720" cy="457200"/>
          </a:xfrm>
          <a:prstGeom prst="rect">
            <a:avLst/>
          </a:prstGeom>
          <a:noFill/>
        </p:spPr>
        <p:txBody>
          <a:bodyPr wrap="square" lIns="0" rIns="0" tIns="0" bIns="0" anchor="t">
            <a:spAutoFit/>
          </a:bodyPr>
          <a:lstStyle/>
          <a:p>
            <a:pPr algn="l"/>
            <a:r>
              <a:rPr sz="1400" b="0" i="0">
                <a:solidFill>
                  <a:srgbClr val="8A9AB0"/>
                </a:solidFill>
                <a:latin typeface="Arial"/>
              </a:rPr>
              <a:t>Company agreement</a:t>
            </a:r>
          </a:p>
        </p:txBody>
      </p:sp>
      <p:sp>
        <p:nvSpPr>
          <p:cNvPr id="18" name="TextBox 17"/>
          <p:cNvSpPr txBox="1"/>
          <p:nvPr/>
        </p:nvSpPr>
        <p:spPr>
          <a:xfrm>
            <a:off x="9235440" y="3849624"/>
            <a:ext cx="2331720" cy="365760"/>
          </a:xfrm>
          <a:prstGeom prst="rect">
            <a:avLst/>
          </a:prstGeom>
          <a:noFill/>
        </p:spPr>
        <p:txBody>
          <a:bodyPr wrap="square" lIns="0" rIns="0" tIns="0" bIns="0" anchor="t">
            <a:spAutoFit/>
          </a:bodyPr>
          <a:lstStyle/>
          <a:p>
            <a:pPr algn="l"/>
            <a:r>
              <a:rPr sz="1200" b="0" i="0">
                <a:solidFill>
                  <a:srgbClr val="8A9AB0"/>
                </a:solidFill>
                <a:latin typeface="Arial"/>
              </a:rPr>
              <a:t>Van Dessel CAO + Teams</a:t>
            </a:r>
          </a:p>
        </p:txBody>
      </p:sp>
      <p:sp>
        <p:nvSpPr>
          <p:cNvPr id="19" name="TextBox 18"/>
          <p:cNvSpPr txBox="1"/>
          <p:nvPr/>
        </p:nvSpPr>
        <p:spPr>
          <a:xfrm>
            <a:off x="8686800" y="4389120"/>
            <a:ext cx="2697480" cy="914400"/>
          </a:xfrm>
          <a:prstGeom prst="rect">
            <a:avLst/>
          </a:prstGeom>
          <a:noFill/>
        </p:spPr>
        <p:txBody>
          <a:bodyPr wrap="square" lIns="0" rIns="0" tIns="0" bIns="0" anchor="t">
            <a:spAutoFit/>
          </a:bodyPr>
          <a:lstStyle/>
          <a:p>
            <a:pPr algn="l"/>
            <a:r>
              <a:rPr sz="4800" b="1" i="0">
                <a:solidFill>
                  <a:srgbClr val="F2555A"/>
                </a:solidFill>
                <a:latin typeface="Arial"/>
              </a:rPr>
              <a:t>February</a:t>
            </a:r>
          </a:p>
        </p:txBody>
      </p:sp>
      <p:sp>
        <p:nvSpPr>
          <p:cNvPr id="20" name="TextBox 19"/>
          <p:cNvSpPr txBox="1"/>
          <p:nvPr/>
        </p:nvSpPr>
        <p:spPr>
          <a:xfrm>
            <a:off x="640080" y="5989320"/>
            <a:ext cx="10972800" cy="365760"/>
          </a:xfrm>
          <a:prstGeom prst="rect">
            <a:avLst/>
          </a:prstGeom>
          <a:noFill/>
        </p:spPr>
        <p:txBody>
          <a:bodyPr wrap="square" lIns="0" rIns="0" tIns="0" bIns="0" anchor="t">
            <a:spAutoFit/>
          </a:bodyPr>
          <a:lstStyle/>
          <a:p>
            <a:pPr algn="l"/>
            <a:r>
              <a:rPr sz="1600" b="0" i="0">
                <a:solidFill>
                  <a:srgbClr val="8A9AB0"/>
                </a:solidFill>
                <a:latin typeface="Arial"/>
              </a:rPr>
              <a:t>Her search finds all three. Nothing tells her which one to trust.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424"/>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nchor="t">
            <a:spAutoFit/>
          </a:bodyPr>
          <a:lstStyle/>
          <a:p>
            <a:pPr algn="l"/>
            <a:r>
              <a:rPr sz="1200" b="1" i="0">
                <a:solidFill>
                  <a:srgbClr val="5EE6D0"/>
                </a:solidFill>
                <a:latin typeface="Arial"/>
              </a:rPr>
              <a:t>02</a:t>
            </a:r>
            <a:r>
              <a:rPr sz="1200" b="0" i="0">
                <a:solidFill>
                  <a:srgbClr val="8A9AB0"/>
                </a:solidFill>
                <a:latin typeface="Arial"/>
              </a:rPr>
              <a:t>   THREE WAYS TO HOLD KNOWLEDGE</a:t>
            </a:r>
          </a:p>
        </p:txBody>
      </p:sp>
      <p:sp>
        <p:nvSpPr>
          <p:cNvPr id="3" name="TextBox 2"/>
          <p:cNvSpPr txBox="1"/>
          <p:nvPr/>
        </p:nvSpPr>
        <p:spPr>
          <a:xfrm>
            <a:off x="640080" y="868680"/>
            <a:ext cx="10972800" cy="822960"/>
          </a:xfrm>
          <a:prstGeom prst="rect">
            <a:avLst/>
          </a:prstGeom>
          <a:noFill/>
        </p:spPr>
        <p:txBody>
          <a:bodyPr wrap="square" lIns="0" rIns="0" tIns="0" bIns="0" anchor="t">
            <a:spAutoFit/>
          </a:bodyPr>
          <a:lstStyle/>
          <a:p>
            <a:pPr algn="l"/>
            <a:r>
              <a:rPr sz="4400" b="1" i="0">
                <a:solidFill>
                  <a:srgbClr val="E8EEF5"/>
                </a:solidFill>
                <a:latin typeface="Arial"/>
              </a:rPr>
              <a:t>Dead, connected, alive.</a:t>
            </a:r>
          </a:p>
        </p:txBody>
      </p:sp>
      <p:sp>
        <p:nvSpPr>
          <p:cNvPr id="4" name="Rounded Rectangle 3"/>
          <p:cNvSpPr/>
          <p:nvPr/>
        </p:nvSpPr>
        <p:spPr>
          <a:xfrm>
            <a:off x="640080" y="1920240"/>
            <a:ext cx="3429000" cy="429768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517" y="2901664"/>
            <a:ext cx="417169"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80458" y="2910265"/>
            <a:ext cx="383807"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1467" y="3475429"/>
            <a:ext cx="697760"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39463" y="2716097"/>
            <a:ext cx="411359"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719" y="2619281"/>
            <a:ext cx="391088"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20353" y="3539924"/>
            <a:ext cx="701677"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45945" y="2767655"/>
            <a:ext cx="649408"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9464" y="3614533"/>
            <a:ext cx="578027"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5023" y="3227784"/>
            <a:ext cx="682163"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69962" y="2562371"/>
            <a:ext cx="596431"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5743" y="3738798"/>
            <a:ext cx="514911"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21500" y="2752725"/>
            <a:ext cx="676169"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65787" y="3657544"/>
            <a:ext cx="694021"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38597" y="2929470"/>
            <a:ext cx="668993" cy="146304"/>
          </a:xfrm>
          <a:prstGeom prst="rect">
            <a:avLst/>
          </a:prstGeom>
          <a:solidFill>
            <a:srgbClr val="24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43400"/>
            <a:ext cx="2880360" cy="548640"/>
          </a:xfrm>
          <a:prstGeom prst="rect">
            <a:avLst/>
          </a:prstGeom>
          <a:noFill/>
        </p:spPr>
        <p:txBody>
          <a:bodyPr wrap="square" lIns="0" rIns="0" tIns="0" bIns="0" anchor="t">
            <a:spAutoFit/>
          </a:bodyPr>
          <a:lstStyle/>
          <a:p>
            <a:pPr algn="l"/>
            <a:r>
              <a:rPr sz="3000" b="1" i="0">
                <a:solidFill>
                  <a:srgbClr val="F2555A"/>
                </a:solidFill>
                <a:latin typeface="Arial"/>
              </a:rPr>
              <a:t>Dead</a:t>
            </a:r>
          </a:p>
        </p:txBody>
      </p:sp>
      <p:sp>
        <p:nvSpPr>
          <p:cNvPr id="20" name="TextBox 19"/>
          <p:cNvSpPr txBox="1"/>
          <p:nvPr/>
        </p:nvSpPr>
        <p:spPr>
          <a:xfrm>
            <a:off x="914400" y="4846320"/>
            <a:ext cx="2880360" cy="365760"/>
          </a:xfrm>
          <a:prstGeom prst="rect">
            <a:avLst/>
          </a:prstGeom>
          <a:noFill/>
        </p:spPr>
        <p:txBody>
          <a:bodyPr wrap="square" lIns="0" rIns="0" tIns="0" bIns="0" anchor="t">
            <a:spAutoFit/>
          </a:bodyPr>
          <a:lstStyle/>
          <a:p>
            <a:pPr algn="l"/>
            <a:r>
              <a:rPr sz="1400" b="0" i="0">
                <a:solidFill>
                  <a:srgbClr val="8A9AB0"/>
                </a:solidFill>
                <a:latin typeface="Arial"/>
              </a:rPr>
              <a:t>Classic AI search</a:t>
            </a:r>
          </a:p>
        </p:txBody>
      </p:sp>
      <p:sp>
        <p:nvSpPr>
          <p:cNvPr id="21" name="TextBox 20"/>
          <p:cNvSpPr txBox="1"/>
          <p:nvPr/>
        </p:nvSpPr>
        <p:spPr>
          <a:xfrm>
            <a:off x="914400" y="5212080"/>
            <a:ext cx="2880360" cy="914400"/>
          </a:xfrm>
          <a:prstGeom prst="rect">
            <a:avLst/>
          </a:prstGeom>
          <a:noFill/>
        </p:spPr>
        <p:txBody>
          <a:bodyPr wrap="square" lIns="0" rIns="0" tIns="0" bIns="0" anchor="t">
            <a:spAutoFit/>
          </a:bodyPr>
          <a:lstStyle/>
          <a:p>
            <a:pPr algn="l"/>
            <a:r>
              <a:rPr sz="1400" b="0" i="0">
                <a:solidFill>
                  <a:srgbClr val="E8EEF5"/>
                </a:solidFill>
                <a:latin typeface="Arial"/>
              </a:rPr>
              <a:t>Blends chunks into one confident answer. A forecast looks as relevant as the final figure.</a:t>
            </a:r>
          </a:p>
        </p:txBody>
      </p:sp>
      <p:sp>
        <p:nvSpPr>
          <p:cNvPr id="22" name="Rounded Rectangle 21"/>
          <p:cNvSpPr/>
          <p:nvPr/>
        </p:nvSpPr>
        <p:spPr>
          <a:xfrm>
            <a:off x="4480560" y="1920240"/>
            <a:ext cx="3429000" cy="429768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5029200" y="2423160"/>
            <a:ext cx="822960" cy="22860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2160" y="2423160"/>
            <a:ext cx="914400" cy="32004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766560" y="2743200"/>
            <a:ext cx="640080" cy="64008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52160" y="2423160"/>
            <a:ext cx="457200" cy="105156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309360" y="3383280"/>
            <a:ext cx="1097280" cy="9144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029200" y="2651760"/>
            <a:ext cx="274320" cy="100584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03520" y="3474720"/>
            <a:ext cx="1005840" cy="18288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309360" y="3474720"/>
            <a:ext cx="640080" cy="45720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949440" y="3383280"/>
            <a:ext cx="457200" cy="548640"/>
          </a:xfrm>
          <a:prstGeom prst="line">
            <a:avLst/>
          </a:prstGeom>
          <a:ln w="15875">
            <a:solidFill>
              <a:srgbClr val="8A9AB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937760" y="2560320"/>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60720" y="2331720"/>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75120" y="2651760"/>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315200" y="3291840"/>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17920" y="3383279"/>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212080" y="3566160"/>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58000" y="3840480"/>
            <a:ext cx="182880" cy="182880"/>
          </a:xfrm>
          <a:prstGeom prst="ellipse">
            <a:avLst/>
          </a:prstGeom>
          <a:solidFill>
            <a:srgbClr val="12263F"/>
          </a:solidFill>
          <a:ln w="19050">
            <a:solidFill>
              <a:srgbClr val="8A9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0" y="4343400"/>
            <a:ext cx="2880360" cy="548640"/>
          </a:xfrm>
          <a:prstGeom prst="rect">
            <a:avLst/>
          </a:prstGeom>
          <a:noFill/>
        </p:spPr>
        <p:txBody>
          <a:bodyPr wrap="square" lIns="0" rIns="0" tIns="0" bIns="0" anchor="t">
            <a:spAutoFit/>
          </a:bodyPr>
          <a:lstStyle/>
          <a:p>
            <a:pPr algn="l"/>
            <a:r>
              <a:rPr sz="3000" b="1" i="0">
                <a:solidFill>
                  <a:srgbClr val="F5B84B"/>
                </a:solidFill>
                <a:latin typeface="Arial"/>
              </a:rPr>
              <a:t>Connected</a:t>
            </a:r>
          </a:p>
        </p:txBody>
      </p:sp>
      <p:sp>
        <p:nvSpPr>
          <p:cNvPr id="40" name="TextBox 39"/>
          <p:cNvSpPr txBox="1"/>
          <p:nvPr/>
        </p:nvSpPr>
        <p:spPr>
          <a:xfrm>
            <a:off x="4754880" y="4846320"/>
            <a:ext cx="2880360" cy="365760"/>
          </a:xfrm>
          <a:prstGeom prst="rect">
            <a:avLst/>
          </a:prstGeom>
          <a:noFill/>
        </p:spPr>
        <p:txBody>
          <a:bodyPr wrap="square" lIns="0" rIns="0" tIns="0" bIns="0" anchor="t">
            <a:spAutoFit/>
          </a:bodyPr>
          <a:lstStyle/>
          <a:p>
            <a:pPr algn="l"/>
            <a:r>
              <a:rPr sz="1400" b="0" i="0">
                <a:solidFill>
                  <a:srgbClr val="8A9AB0"/>
                </a:solidFill>
                <a:latin typeface="Arial"/>
              </a:rPr>
              <a:t>Knowledge graph</a:t>
            </a:r>
          </a:p>
        </p:txBody>
      </p:sp>
      <p:sp>
        <p:nvSpPr>
          <p:cNvPr id="41" name="TextBox 40"/>
          <p:cNvSpPr txBox="1"/>
          <p:nvPr/>
        </p:nvSpPr>
        <p:spPr>
          <a:xfrm>
            <a:off x="4754880" y="5212080"/>
            <a:ext cx="2880360" cy="914400"/>
          </a:xfrm>
          <a:prstGeom prst="rect">
            <a:avLst/>
          </a:prstGeom>
          <a:noFill/>
        </p:spPr>
        <p:txBody>
          <a:bodyPr wrap="square" lIns="0" rIns="0" tIns="0" bIns="0" anchor="t">
            <a:spAutoFit/>
          </a:bodyPr>
          <a:lstStyle/>
          <a:p>
            <a:pPr algn="l"/>
            <a:r>
              <a:rPr sz="1400" b="0" i="0">
                <a:solidFill>
                  <a:srgbClr val="E8EEF5"/>
                </a:solidFill>
                <a:latin typeface="Arial"/>
              </a:rPr>
              <a:t>Someone has to draw the map and keep it current. It goes stale the week after.</a:t>
            </a:r>
          </a:p>
        </p:txBody>
      </p:sp>
      <p:sp>
        <p:nvSpPr>
          <p:cNvPr id="42" name="Rounded Rectangle 41"/>
          <p:cNvSpPr/>
          <p:nvPr/>
        </p:nvSpPr>
        <p:spPr>
          <a:xfrm>
            <a:off x="8321040" y="1920240"/>
            <a:ext cx="3429000" cy="4297680"/>
          </a:xfrm>
          <a:prstGeom prst="roundRect">
            <a:avLst>
              <a:gd name="adj" fmla="val 6000"/>
            </a:avLst>
          </a:prstGeom>
          <a:solidFill>
            <a:srgbClr val="0B2A2E"/>
          </a:solidFill>
          <a:ln w="12700">
            <a:solidFill>
              <a:srgbClr val="5EE6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swarm.jpg"/>
          <p:cNvPicPr>
            <a:picLocks noChangeAspect="1"/>
          </p:cNvPicPr>
          <p:nvPr/>
        </p:nvPicPr>
        <p:blipFill>
          <a:blip r:embed="rId2"/>
          <a:stretch>
            <a:fillRect/>
          </a:stretch>
        </p:blipFill>
        <p:spPr>
          <a:xfrm>
            <a:off x="9075420" y="2194560"/>
            <a:ext cx="1839103" cy="1920240"/>
          </a:xfrm>
          <a:prstGeom prst="rect">
            <a:avLst/>
          </a:prstGeom>
        </p:spPr>
      </p:pic>
      <p:sp>
        <p:nvSpPr>
          <p:cNvPr id="44" name="TextBox 43"/>
          <p:cNvSpPr txBox="1"/>
          <p:nvPr/>
        </p:nvSpPr>
        <p:spPr>
          <a:xfrm>
            <a:off x="8595360" y="4343400"/>
            <a:ext cx="2880360" cy="548640"/>
          </a:xfrm>
          <a:prstGeom prst="rect">
            <a:avLst/>
          </a:prstGeom>
          <a:noFill/>
        </p:spPr>
        <p:txBody>
          <a:bodyPr wrap="square" lIns="0" rIns="0" tIns="0" bIns="0" anchor="t">
            <a:spAutoFit/>
          </a:bodyPr>
          <a:lstStyle/>
          <a:p>
            <a:pPr algn="l"/>
            <a:r>
              <a:rPr sz="3000" b="1" i="0">
                <a:solidFill>
                  <a:srgbClr val="4ADE80"/>
                </a:solidFill>
                <a:latin typeface="Arial"/>
              </a:rPr>
              <a:t>Alive</a:t>
            </a:r>
          </a:p>
        </p:txBody>
      </p:sp>
      <p:sp>
        <p:nvSpPr>
          <p:cNvPr id="45" name="TextBox 44"/>
          <p:cNvSpPr txBox="1"/>
          <p:nvPr/>
        </p:nvSpPr>
        <p:spPr>
          <a:xfrm>
            <a:off x="8595360" y="4846320"/>
            <a:ext cx="2880360" cy="365760"/>
          </a:xfrm>
          <a:prstGeom prst="rect">
            <a:avLst/>
          </a:prstGeom>
          <a:noFill/>
        </p:spPr>
        <p:txBody>
          <a:bodyPr wrap="square" lIns="0" rIns="0" tIns="0" bIns="0" anchor="t">
            <a:spAutoFit/>
          </a:bodyPr>
          <a:lstStyle/>
          <a:p>
            <a:pPr algn="l"/>
            <a:r>
              <a:rPr sz="1400" b="0" i="0">
                <a:solidFill>
                  <a:srgbClr val="8A9AB0"/>
                </a:solidFill>
                <a:latin typeface="Arial"/>
              </a:rPr>
              <a:t>Mitosis</a:t>
            </a:r>
          </a:p>
        </p:txBody>
      </p:sp>
      <p:sp>
        <p:nvSpPr>
          <p:cNvPr id="46" name="TextBox 45"/>
          <p:cNvSpPr txBox="1"/>
          <p:nvPr/>
        </p:nvSpPr>
        <p:spPr>
          <a:xfrm>
            <a:off x="8595360" y="5212080"/>
            <a:ext cx="2880360" cy="914400"/>
          </a:xfrm>
          <a:prstGeom prst="rect">
            <a:avLst/>
          </a:prstGeom>
          <a:noFill/>
        </p:spPr>
        <p:txBody>
          <a:bodyPr wrap="square" lIns="0" rIns="0" tIns="0" bIns="0" anchor="t">
            <a:spAutoFit/>
          </a:bodyPr>
          <a:lstStyle/>
          <a:p>
            <a:pPr algn="l"/>
            <a:r>
              <a:rPr sz="1400" b="0" i="0">
                <a:solidFill>
                  <a:srgbClr val="E8EEF5"/>
                </a:solidFill>
                <a:latin typeface="Arial"/>
              </a:rPr>
              <a:t>Divides itself as it reads, and catches the contradiction before anyone 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424"/>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nchor="t">
            <a:spAutoFit/>
          </a:bodyPr>
          <a:lstStyle/>
          <a:p>
            <a:pPr algn="l"/>
            <a:r>
              <a:rPr sz="1200" b="1" i="0">
                <a:solidFill>
                  <a:srgbClr val="5EE6D0"/>
                </a:solidFill>
                <a:latin typeface="Arial"/>
              </a:rPr>
              <a:t>03</a:t>
            </a:r>
            <a:r>
              <a:rPr sz="1200" b="0" i="0">
                <a:solidFill>
                  <a:srgbClr val="8A9AB0"/>
                </a:solidFill>
                <a:latin typeface="Arial"/>
              </a:rPr>
              <a:t>   HOW IT WORKS</a:t>
            </a:r>
          </a:p>
        </p:txBody>
      </p:sp>
      <p:sp>
        <p:nvSpPr>
          <p:cNvPr id="3" name="TextBox 2"/>
          <p:cNvSpPr txBox="1"/>
          <p:nvPr/>
        </p:nvSpPr>
        <p:spPr>
          <a:xfrm>
            <a:off x="640080" y="868680"/>
            <a:ext cx="10972800" cy="822960"/>
          </a:xfrm>
          <a:prstGeom prst="rect">
            <a:avLst/>
          </a:prstGeom>
          <a:noFill/>
        </p:spPr>
        <p:txBody>
          <a:bodyPr wrap="square" lIns="0" rIns="0" tIns="0" bIns="0" anchor="t">
            <a:spAutoFit/>
          </a:bodyPr>
          <a:lstStyle/>
          <a:p>
            <a:pPr algn="l"/>
            <a:r>
              <a:rPr sz="4000" b="1" i="0">
                <a:solidFill>
                  <a:srgbClr val="E8EEF5"/>
                </a:solidFill>
                <a:latin typeface="Arial"/>
              </a:rPr>
              <a:t>It reads first, so you don’t have to search.</a:t>
            </a:r>
          </a:p>
        </p:txBody>
      </p:sp>
      <p:cxnSp>
        <p:nvCxnSpPr>
          <p:cNvPr id="4" name="Connector 3"/>
          <p:cNvCxnSpPr/>
          <p:nvPr/>
        </p:nvCxnSpPr>
        <p:spPr>
          <a:xfrm>
            <a:off x="2066543" y="3246120"/>
            <a:ext cx="862508" cy="0"/>
          </a:xfrm>
          <a:prstGeom prst="line">
            <a:avLst/>
          </a:prstGeom>
          <a:ln w="22225">
            <a:solidFill>
              <a:srgbClr val="8A9A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465243" y="3246120"/>
            <a:ext cx="862508" cy="0"/>
          </a:xfrm>
          <a:prstGeom prst="line">
            <a:avLst/>
          </a:prstGeom>
          <a:ln w="22225">
            <a:solidFill>
              <a:srgbClr val="8A9A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63943" y="3246120"/>
            <a:ext cx="862508" cy="0"/>
          </a:xfrm>
          <a:prstGeom prst="line">
            <a:avLst/>
          </a:prstGeom>
          <a:ln w="22225">
            <a:solidFill>
              <a:srgbClr val="8A9A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262643" y="3246120"/>
            <a:ext cx="862508" cy="0"/>
          </a:xfrm>
          <a:prstGeom prst="line">
            <a:avLst/>
          </a:prstGeom>
          <a:ln w="22225">
            <a:solidFill>
              <a:srgbClr val="8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40080" y="2587752"/>
            <a:ext cx="1316736" cy="1316736"/>
          </a:xfrm>
          <a:prstGeom prst="ellipse">
            <a:avLst/>
          </a:prstGeom>
          <a:solidFill>
            <a:srgbClr val="12263F"/>
          </a:solidFill>
          <a:ln w="31750">
            <a:solidFill>
              <a:srgbClr val="5EE6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5EE6D0"/>
                </a:solidFill>
                <a:latin typeface="Arial"/>
              </a:rPr>
              <a:t>1</a:t>
            </a:r>
          </a:p>
        </p:txBody>
      </p:sp>
      <p:sp>
        <p:nvSpPr>
          <p:cNvPr id="9" name="TextBox 8"/>
          <p:cNvSpPr txBox="1"/>
          <p:nvPr/>
        </p:nvSpPr>
        <p:spPr>
          <a:xfrm>
            <a:off x="201167" y="4224527"/>
            <a:ext cx="2194560" cy="411480"/>
          </a:xfrm>
          <a:prstGeom prst="rect">
            <a:avLst/>
          </a:prstGeom>
          <a:noFill/>
        </p:spPr>
        <p:txBody>
          <a:bodyPr wrap="square" lIns="0" rIns="0" tIns="0" bIns="0" anchor="t">
            <a:spAutoFit/>
          </a:bodyPr>
          <a:lstStyle/>
          <a:p>
            <a:pPr algn="ctr"/>
            <a:r>
              <a:rPr sz="2000" b="1" i="0">
                <a:solidFill>
                  <a:srgbClr val="E8EEF5"/>
                </a:solidFill>
                <a:latin typeface="Arial"/>
              </a:rPr>
              <a:t>Read</a:t>
            </a:r>
          </a:p>
        </p:txBody>
      </p:sp>
      <p:sp>
        <p:nvSpPr>
          <p:cNvPr id="10" name="TextBox 9"/>
          <p:cNvSpPr txBox="1"/>
          <p:nvPr/>
        </p:nvSpPr>
        <p:spPr>
          <a:xfrm>
            <a:off x="201167" y="4681727"/>
            <a:ext cx="2194560" cy="640080"/>
          </a:xfrm>
          <a:prstGeom prst="rect">
            <a:avLst/>
          </a:prstGeom>
          <a:noFill/>
        </p:spPr>
        <p:txBody>
          <a:bodyPr wrap="square" lIns="0" rIns="0" tIns="0" bIns="0" anchor="t">
            <a:spAutoFit/>
          </a:bodyPr>
          <a:lstStyle/>
          <a:p>
            <a:pPr algn="ctr"/>
            <a:r>
              <a:rPr sz="1400" b="0" i="0">
                <a:solidFill>
                  <a:srgbClr val="8A9AB0"/>
                </a:solidFill>
                <a:latin typeface="Arial"/>
              </a:rPr>
              <a:t>every document, chat and ticket</a:t>
            </a:r>
          </a:p>
        </p:txBody>
      </p:sp>
      <p:sp>
        <p:nvSpPr>
          <p:cNvPr id="11" name="Oval 10"/>
          <p:cNvSpPr/>
          <p:nvPr/>
        </p:nvSpPr>
        <p:spPr>
          <a:xfrm>
            <a:off x="2982452" y="2732592"/>
            <a:ext cx="1027054" cy="1027054"/>
          </a:xfrm>
          <a:prstGeom prst="ellipse">
            <a:avLst/>
          </a:prstGeom>
          <a:solidFill>
            <a:srgbClr val="12263F"/>
          </a:solidFill>
          <a:ln w="31750">
            <a:solidFill>
              <a:srgbClr val="B1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84788" y="2732592"/>
            <a:ext cx="1027054" cy="1027054"/>
          </a:xfrm>
          <a:prstGeom prst="ellipse">
            <a:avLst/>
          </a:prstGeom>
          <a:solidFill>
            <a:srgbClr val="12263F"/>
          </a:solidFill>
          <a:ln w="31750">
            <a:solidFill>
              <a:srgbClr val="B1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39947" y="3017520"/>
            <a:ext cx="914400" cy="457200"/>
          </a:xfrm>
          <a:prstGeom prst="rect">
            <a:avLst/>
          </a:prstGeom>
          <a:noFill/>
        </p:spPr>
        <p:txBody>
          <a:bodyPr wrap="square" lIns="0" rIns="0" tIns="0" bIns="0" anchor="ctr">
            <a:spAutoFit/>
          </a:bodyPr>
          <a:lstStyle/>
          <a:p>
            <a:pPr algn="ctr"/>
            <a:r>
              <a:rPr sz="2400" b="1" i="0">
                <a:solidFill>
                  <a:srgbClr val="B18CF0"/>
                </a:solidFill>
                <a:latin typeface="Arial"/>
              </a:rPr>
              <a:t>2</a:t>
            </a:r>
          </a:p>
        </p:txBody>
      </p:sp>
      <p:sp>
        <p:nvSpPr>
          <p:cNvPr id="14" name="TextBox 13"/>
          <p:cNvSpPr txBox="1"/>
          <p:nvPr/>
        </p:nvSpPr>
        <p:spPr>
          <a:xfrm>
            <a:off x="2599867" y="4224527"/>
            <a:ext cx="2194560" cy="411480"/>
          </a:xfrm>
          <a:prstGeom prst="rect">
            <a:avLst/>
          </a:prstGeom>
          <a:noFill/>
        </p:spPr>
        <p:txBody>
          <a:bodyPr wrap="square" lIns="0" rIns="0" tIns="0" bIns="0" anchor="t">
            <a:spAutoFit/>
          </a:bodyPr>
          <a:lstStyle/>
          <a:p>
            <a:pPr algn="ctr"/>
            <a:r>
              <a:rPr sz="2000" b="1" i="0">
                <a:solidFill>
                  <a:srgbClr val="E8EEF5"/>
                </a:solidFill>
                <a:latin typeface="Arial"/>
              </a:rPr>
              <a:t>Divide</a:t>
            </a:r>
          </a:p>
        </p:txBody>
      </p:sp>
      <p:sp>
        <p:nvSpPr>
          <p:cNvPr id="15" name="TextBox 14"/>
          <p:cNvSpPr txBox="1"/>
          <p:nvPr/>
        </p:nvSpPr>
        <p:spPr>
          <a:xfrm>
            <a:off x="2599867" y="4681727"/>
            <a:ext cx="2194560" cy="640080"/>
          </a:xfrm>
          <a:prstGeom prst="rect">
            <a:avLst/>
          </a:prstGeom>
          <a:noFill/>
        </p:spPr>
        <p:txBody>
          <a:bodyPr wrap="square" lIns="0" rIns="0" tIns="0" bIns="0" anchor="t">
            <a:spAutoFit/>
          </a:bodyPr>
          <a:lstStyle/>
          <a:p>
            <a:pPr algn="ctr"/>
            <a:r>
              <a:rPr sz="1400" b="0" i="0">
                <a:solidFill>
                  <a:srgbClr val="8A9AB0"/>
                </a:solidFill>
                <a:latin typeface="Arial"/>
              </a:rPr>
              <a:t>by joint committee, client, country</a:t>
            </a:r>
          </a:p>
        </p:txBody>
      </p:sp>
      <p:sp>
        <p:nvSpPr>
          <p:cNvPr id="16" name="Oval 15"/>
          <p:cNvSpPr/>
          <p:nvPr/>
        </p:nvSpPr>
        <p:spPr>
          <a:xfrm>
            <a:off x="5437479" y="2587752"/>
            <a:ext cx="1316736" cy="1316736"/>
          </a:xfrm>
          <a:prstGeom prst="ellipse">
            <a:avLst/>
          </a:prstGeom>
          <a:solidFill>
            <a:srgbClr val="3A1418"/>
          </a:solidFill>
          <a:ln w="38100">
            <a:solidFill>
              <a:srgbClr val="F2555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2555A"/>
                </a:solidFill>
                <a:latin typeface="Arial"/>
              </a:rPr>
              <a:t>3</a:t>
            </a:r>
          </a:p>
        </p:txBody>
      </p:sp>
      <p:sp>
        <p:nvSpPr>
          <p:cNvPr id="17" name="TextBox 16"/>
          <p:cNvSpPr txBox="1"/>
          <p:nvPr/>
        </p:nvSpPr>
        <p:spPr>
          <a:xfrm>
            <a:off x="4998567" y="4224527"/>
            <a:ext cx="2194560" cy="411480"/>
          </a:xfrm>
          <a:prstGeom prst="rect">
            <a:avLst/>
          </a:prstGeom>
          <a:noFill/>
        </p:spPr>
        <p:txBody>
          <a:bodyPr wrap="square" lIns="0" rIns="0" tIns="0" bIns="0" anchor="t">
            <a:spAutoFit/>
          </a:bodyPr>
          <a:lstStyle/>
          <a:p>
            <a:pPr algn="ctr"/>
            <a:r>
              <a:rPr sz="2000" b="1" i="0">
                <a:solidFill>
                  <a:srgbClr val="E8EEF5"/>
                </a:solidFill>
                <a:latin typeface="Arial"/>
              </a:rPr>
              <a:t>Catch</a:t>
            </a:r>
          </a:p>
        </p:txBody>
      </p:sp>
      <p:sp>
        <p:nvSpPr>
          <p:cNvPr id="18" name="TextBox 17"/>
          <p:cNvSpPr txBox="1"/>
          <p:nvPr/>
        </p:nvSpPr>
        <p:spPr>
          <a:xfrm>
            <a:off x="4998567" y="4681727"/>
            <a:ext cx="2194560" cy="640080"/>
          </a:xfrm>
          <a:prstGeom prst="rect">
            <a:avLst/>
          </a:prstGeom>
          <a:noFill/>
        </p:spPr>
        <p:txBody>
          <a:bodyPr wrap="square" lIns="0" rIns="0" tIns="0" bIns="0" anchor="t">
            <a:spAutoFit/>
          </a:bodyPr>
          <a:lstStyle/>
          <a:p>
            <a:pPr algn="ctr"/>
            <a:r>
              <a:rPr sz="1400" b="0" i="0">
                <a:solidFill>
                  <a:srgbClr val="8A9AB0"/>
                </a:solidFill>
                <a:latin typeface="Arial"/>
              </a:rPr>
              <a:t>specialists see their whole domain</a:t>
            </a:r>
          </a:p>
        </p:txBody>
      </p:sp>
      <p:sp>
        <p:nvSpPr>
          <p:cNvPr id="19" name="Oval 18"/>
          <p:cNvSpPr/>
          <p:nvPr/>
        </p:nvSpPr>
        <p:spPr>
          <a:xfrm>
            <a:off x="7836179" y="2587752"/>
            <a:ext cx="1316736" cy="1316736"/>
          </a:xfrm>
          <a:prstGeom prst="ellipse">
            <a:avLst/>
          </a:prstGeom>
          <a:solidFill>
            <a:srgbClr val="12263F"/>
          </a:solidFill>
          <a:ln w="31750">
            <a:solidFill>
              <a:srgbClr val="F5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5B84B"/>
                </a:solidFill>
                <a:latin typeface="Arial"/>
              </a:rPr>
              <a:t>4</a:t>
            </a:r>
          </a:p>
        </p:txBody>
      </p:sp>
      <p:sp>
        <p:nvSpPr>
          <p:cNvPr id="20" name="TextBox 19"/>
          <p:cNvSpPr txBox="1"/>
          <p:nvPr/>
        </p:nvSpPr>
        <p:spPr>
          <a:xfrm>
            <a:off x="7397267" y="4224527"/>
            <a:ext cx="2194560" cy="411480"/>
          </a:xfrm>
          <a:prstGeom prst="rect">
            <a:avLst/>
          </a:prstGeom>
          <a:noFill/>
        </p:spPr>
        <p:txBody>
          <a:bodyPr wrap="square" lIns="0" rIns="0" tIns="0" bIns="0" anchor="t">
            <a:spAutoFit/>
          </a:bodyPr>
          <a:lstStyle/>
          <a:p>
            <a:pPr algn="ctr"/>
            <a:r>
              <a:rPr sz="2000" b="1" i="0">
                <a:solidFill>
                  <a:srgbClr val="E8EEF5"/>
                </a:solidFill>
                <a:latin typeface="Arial"/>
              </a:rPr>
              <a:t>Tell the owner</a:t>
            </a:r>
          </a:p>
        </p:txBody>
      </p:sp>
      <p:sp>
        <p:nvSpPr>
          <p:cNvPr id="21" name="TextBox 20"/>
          <p:cNvSpPr txBox="1"/>
          <p:nvPr/>
        </p:nvSpPr>
        <p:spPr>
          <a:xfrm>
            <a:off x="7397267" y="4681727"/>
            <a:ext cx="2194560" cy="640080"/>
          </a:xfrm>
          <a:prstGeom prst="rect">
            <a:avLst/>
          </a:prstGeom>
          <a:noFill/>
        </p:spPr>
        <p:txBody>
          <a:bodyPr wrap="square" lIns="0" rIns="0" tIns="0" bIns="0" anchor="t">
            <a:spAutoFit/>
          </a:bodyPr>
          <a:lstStyle/>
          <a:p>
            <a:pPr algn="ctr"/>
            <a:r>
              <a:rPr sz="1400" b="0" i="0">
                <a:solidFill>
                  <a:srgbClr val="8A9AB0"/>
                </a:solidFill>
                <a:latin typeface="Arial"/>
              </a:rPr>
              <a:t>Jan settles it in one click</a:t>
            </a:r>
          </a:p>
        </p:txBody>
      </p:sp>
      <p:sp>
        <p:nvSpPr>
          <p:cNvPr id="22" name="Oval 21"/>
          <p:cNvSpPr/>
          <p:nvPr/>
        </p:nvSpPr>
        <p:spPr>
          <a:xfrm>
            <a:off x="10234879" y="2587752"/>
            <a:ext cx="1316736" cy="1316736"/>
          </a:xfrm>
          <a:prstGeom prst="ellipse">
            <a:avLst/>
          </a:prstGeom>
          <a:solidFill>
            <a:srgbClr val="0F3322"/>
          </a:solidFill>
          <a:ln w="3810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4ADE80"/>
                </a:solidFill>
                <a:latin typeface="Arial"/>
              </a:rPr>
              <a:t>5</a:t>
            </a:r>
          </a:p>
        </p:txBody>
      </p:sp>
      <p:sp>
        <p:nvSpPr>
          <p:cNvPr id="23" name="TextBox 22"/>
          <p:cNvSpPr txBox="1"/>
          <p:nvPr/>
        </p:nvSpPr>
        <p:spPr>
          <a:xfrm>
            <a:off x="9795967" y="4224527"/>
            <a:ext cx="2194560" cy="411480"/>
          </a:xfrm>
          <a:prstGeom prst="rect">
            <a:avLst/>
          </a:prstGeom>
          <a:noFill/>
        </p:spPr>
        <p:txBody>
          <a:bodyPr wrap="square" lIns="0" rIns="0" tIns="0" bIns="0" anchor="t">
            <a:spAutoFit/>
          </a:bodyPr>
          <a:lstStyle/>
          <a:p>
            <a:pPr algn="ctr"/>
            <a:r>
              <a:rPr sz="2000" b="1" i="0">
                <a:solidFill>
                  <a:srgbClr val="E8EEF5"/>
                </a:solidFill>
                <a:latin typeface="Arial"/>
              </a:rPr>
              <a:t>Verified</a:t>
            </a:r>
          </a:p>
        </p:txBody>
      </p:sp>
      <p:sp>
        <p:nvSpPr>
          <p:cNvPr id="24" name="TextBox 23"/>
          <p:cNvSpPr txBox="1"/>
          <p:nvPr/>
        </p:nvSpPr>
        <p:spPr>
          <a:xfrm>
            <a:off x="9795967" y="4681727"/>
            <a:ext cx="2194560" cy="640080"/>
          </a:xfrm>
          <a:prstGeom prst="rect">
            <a:avLst/>
          </a:prstGeom>
          <a:noFill/>
        </p:spPr>
        <p:txBody>
          <a:bodyPr wrap="square" lIns="0" rIns="0" tIns="0" bIns="0" anchor="t">
            <a:spAutoFit/>
          </a:bodyPr>
          <a:lstStyle/>
          <a:p>
            <a:pPr algn="ctr"/>
            <a:r>
              <a:rPr sz="1400" b="0" i="0">
                <a:solidFill>
                  <a:srgbClr val="8A9AB0"/>
                </a:solidFill>
                <a:latin typeface="Arial"/>
              </a:rPr>
              <a:t>everyone gets the green answer</a:t>
            </a:r>
          </a:p>
        </p:txBody>
      </p:sp>
      <p:sp>
        <p:nvSpPr>
          <p:cNvPr id="25" name="TextBox 24"/>
          <p:cNvSpPr txBox="1"/>
          <p:nvPr/>
        </p:nvSpPr>
        <p:spPr>
          <a:xfrm>
            <a:off x="640080" y="5989320"/>
            <a:ext cx="10972800" cy="365760"/>
          </a:xfrm>
          <a:prstGeom prst="rect">
            <a:avLst/>
          </a:prstGeom>
          <a:noFill/>
        </p:spPr>
        <p:txBody>
          <a:bodyPr wrap="square" lIns="0" rIns="0" tIns="0" bIns="0" anchor="t">
            <a:spAutoFit/>
          </a:bodyPr>
          <a:lstStyle/>
          <a:p>
            <a:pPr algn="l"/>
            <a:r>
              <a:rPr sz="1400" b="1" i="0">
                <a:solidFill>
                  <a:srgbClr val="5EE6D0"/>
                </a:solidFill>
                <a:latin typeface="Arial"/>
              </a:rPr>
              <a:t>85%</a:t>
            </a:r>
            <a:r>
              <a:rPr sz="1400" b="0" i="0">
                <a:solidFill>
                  <a:srgbClr val="8A9AB0"/>
                </a:solidFill>
                <a:latin typeface="Arial"/>
              </a:rPr>
              <a:t> of routing is rules and vector math, no LLM call. Facts are extracted once, when a document arrives.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424"/>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nchor="t">
            <a:spAutoFit/>
          </a:bodyPr>
          <a:lstStyle/>
          <a:p>
            <a:pPr algn="l"/>
            <a:r>
              <a:rPr sz="1200" b="1" i="0">
                <a:solidFill>
                  <a:srgbClr val="5EE6D0"/>
                </a:solidFill>
                <a:latin typeface="Arial"/>
              </a:rPr>
              <a:t>04</a:t>
            </a:r>
            <a:r>
              <a:rPr sz="1200" b="0" i="0">
                <a:solidFill>
                  <a:srgbClr val="8A9AB0"/>
                </a:solidFill>
                <a:latin typeface="Arial"/>
              </a:rPr>
              <a:t>   DOES IT WORK</a:t>
            </a:r>
          </a:p>
        </p:txBody>
      </p:sp>
      <p:sp>
        <p:nvSpPr>
          <p:cNvPr id="3" name="TextBox 2"/>
          <p:cNvSpPr txBox="1"/>
          <p:nvPr/>
        </p:nvSpPr>
        <p:spPr>
          <a:xfrm>
            <a:off x="640080" y="868680"/>
            <a:ext cx="10972800" cy="822960"/>
          </a:xfrm>
          <a:prstGeom prst="rect">
            <a:avLst/>
          </a:prstGeom>
          <a:noFill/>
        </p:spPr>
        <p:txBody>
          <a:bodyPr wrap="square" lIns="0" rIns="0" tIns="0" bIns="0" anchor="t">
            <a:spAutoFit/>
          </a:bodyPr>
          <a:lstStyle/>
          <a:p>
            <a:pPr algn="l"/>
            <a:r>
              <a:rPr sz="4000" b="1" i="0">
                <a:solidFill>
                  <a:srgbClr val="E8EEF5"/>
                </a:solidFill>
                <a:latin typeface="Arial"/>
              </a:rPr>
              <a:t>Tested on 102 documents with planted traps.</a:t>
            </a:r>
          </a:p>
        </p:txBody>
      </p:sp>
      <p:sp>
        <p:nvSpPr>
          <p:cNvPr id="4" name="Rounded Rectangle 3"/>
          <p:cNvSpPr/>
          <p:nvPr/>
        </p:nvSpPr>
        <p:spPr>
          <a:xfrm>
            <a:off x="640080" y="1920240"/>
            <a:ext cx="5120640" cy="3749039"/>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94560"/>
            <a:ext cx="4389120" cy="365760"/>
          </a:xfrm>
          <a:prstGeom prst="rect">
            <a:avLst/>
          </a:prstGeom>
          <a:noFill/>
        </p:spPr>
        <p:txBody>
          <a:bodyPr wrap="square" lIns="0" rIns="0" tIns="0" bIns="0" anchor="t">
            <a:spAutoFit/>
          </a:bodyPr>
          <a:lstStyle/>
          <a:p>
            <a:pPr algn="l"/>
            <a:r>
              <a:rPr sz="1400" b="0" i="0">
                <a:solidFill>
                  <a:srgbClr val="8A9AB0"/>
                </a:solidFill>
                <a:latin typeface="Arial"/>
              </a:rPr>
              <a:t>Answer accuracy, 18 golden questions</a:t>
            </a:r>
          </a:p>
        </p:txBody>
      </p:sp>
      <p:sp>
        <p:nvSpPr>
          <p:cNvPr id="6" name="TextBox 5"/>
          <p:cNvSpPr txBox="1"/>
          <p:nvPr/>
        </p:nvSpPr>
        <p:spPr>
          <a:xfrm>
            <a:off x="1005840" y="2606040"/>
            <a:ext cx="4389120" cy="1188720"/>
          </a:xfrm>
          <a:prstGeom prst="rect">
            <a:avLst/>
          </a:prstGeom>
          <a:noFill/>
        </p:spPr>
        <p:txBody>
          <a:bodyPr wrap="square" lIns="0" rIns="0" tIns="0" bIns="0" anchor="t">
            <a:spAutoFit/>
          </a:bodyPr>
          <a:lstStyle/>
          <a:p>
            <a:pPr algn="l"/>
            <a:r>
              <a:rPr sz="7200" b="1" i="0">
                <a:solidFill>
                  <a:srgbClr val="4ADE80"/>
                </a:solidFill>
                <a:latin typeface="Arial"/>
              </a:rPr>
              <a:t>78%</a:t>
            </a:r>
            <a:r>
              <a:rPr sz="3000" b="1" i="0">
                <a:solidFill>
                  <a:srgbClr val="8A9AB0"/>
                </a:solidFill>
                <a:latin typeface="Arial"/>
              </a:rPr>
              <a:t>  vs 61%</a:t>
            </a:r>
          </a:p>
        </p:txBody>
      </p:sp>
      <p:sp>
        <p:nvSpPr>
          <p:cNvPr id="7" name="TextBox 6"/>
          <p:cNvSpPr txBox="1"/>
          <p:nvPr/>
        </p:nvSpPr>
        <p:spPr>
          <a:xfrm>
            <a:off x="1005840" y="4160520"/>
            <a:ext cx="1188720" cy="320040"/>
          </a:xfrm>
          <a:prstGeom prst="rect">
            <a:avLst/>
          </a:prstGeom>
          <a:noFill/>
        </p:spPr>
        <p:txBody>
          <a:bodyPr wrap="square" lIns="0" rIns="0" tIns="0" bIns="0" anchor="ctr">
            <a:spAutoFit/>
          </a:bodyPr>
          <a:lstStyle/>
          <a:p>
            <a:pPr algn="l"/>
            <a:r>
              <a:rPr sz="1300" b="0" i="0">
                <a:solidFill>
                  <a:srgbClr val="E8EEF5"/>
                </a:solidFill>
                <a:latin typeface="Arial"/>
              </a:rPr>
              <a:t>Mitosis</a:t>
            </a:r>
          </a:p>
        </p:txBody>
      </p:sp>
      <p:sp>
        <p:nvSpPr>
          <p:cNvPr id="8" name="Rectangle 7"/>
          <p:cNvSpPr/>
          <p:nvPr/>
        </p:nvSpPr>
        <p:spPr>
          <a:xfrm>
            <a:off x="2240280" y="4215383"/>
            <a:ext cx="2743200" cy="219456"/>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4215383"/>
            <a:ext cx="2133600" cy="219456"/>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4160520"/>
            <a:ext cx="640080" cy="320040"/>
          </a:xfrm>
          <a:prstGeom prst="rect">
            <a:avLst/>
          </a:prstGeom>
          <a:noFill/>
        </p:spPr>
        <p:txBody>
          <a:bodyPr wrap="square" lIns="0" rIns="0" tIns="0" bIns="0" anchor="ctr">
            <a:spAutoFit/>
          </a:bodyPr>
          <a:lstStyle/>
          <a:p>
            <a:pPr algn="l"/>
            <a:r>
              <a:rPr sz="1200" b="0" i="0">
                <a:solidFill>
                  <a:srgbClr val="8A9AB0"/>
                </a:solidFill>
                <a:latin typeface="Arial"/>
              </a:rPr>
              <a:t>14/18</a:t>
            </a:r>
          </a:p>
        </p:txBody>
      </p:sp>
      <p:sp>
        <p:nvSpPr>
          <p:cNvPr id="11" name="TextBox 10"/>
          <p:cNvSpPr txBox="1"/>
          <p:nvPr/>
        </p:nvSpPr>
        <p:spPr>
          <a:xfrm>
            <a:off x="1005840" y="4800600"/>
            <a:ext cx="1188720" cy="320040"/>
          </a:xfrm>
          <a:prstGeom prst="rect">
            <a:avLst/>
          </a:prstGeom>
          <a:noFill/>
        </p:spPr>
        <p:txBody>
          <a:bodyPr wrap="square" lIns="0" rIns="0" tIns="0" bIns="0" anchor="ctr">
            <a:spAutoFit/>
          </a:bodyPr>
          <a:lstStyle/>
          <a:p>
            <a:pPr algn="l"/>
            <a:r>
              <a:rPr sz="1300" b="0" i="0">
                <a:solidFill>
                  <a:srgbClr val="E8EEF5"/>
                </a:solidFill>
                <a:latin typeface="Arial"/>
              </a:rPr>
              <a:t>Plain RAG</a:t>
            </a:r>
          </a:p>
        </p:txBody>
      </p:sp>
      <p:sp>
        <p:nvSpPr>
          <p:cNvPr id="12" name="Rectangle 11"/>
          <p:cNvSpPr/>
          <p:nvPr/>
        </p:nvSpPr>
        <p:spPr>
          <a:xfrm>
            <a:off x="2240280" y="4855464"/>
            <a:ext cx="2743200" cy="219456"/>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40280" y="4855464"/>
            <a:ext cx="1676400" cy="219456"/>
          </a:xfrm>
          <a:prstGeom prst="rect">
            <a:avLst/>
          </a:prstGeom>
          <a:solidFill>
            <a:srgbClr val="8A9A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4800600"/>
            <a:ext cx="640080" cy="320040"/>
          </a:xfrm>
          <a:prstGeom prst="rect">
            <a:avLst/>
          </a:prstGeom>
          <a:noFill/>
        </p:spPr>
        <p:txBody>
          <a:bodyPr wrap="square" lIns="0" rIns="0" tIns="0" bIns="0" anchor="ctr">
            <a:spAutoFit/>
          </a:bodyPr>
          <a:lstStyle/>
          <a:p>
            <a:pPr algn="l"/>
            <a:r>
              <a:rPr sz="1200" b="0" i="0">
                <a:solidFill>
                  <a:srgbClr val="8A9AB0"/>
                </a:solidFill>
                <a:latin typeface="Arial"/>
              </a:rPr>
              <a:t>11/18</a:t>
            </a:r>
          </a:p>
        </p:txBody>
      </p:sp>
      <p:sp>
        <p:nvSpPr>
          <p:cNvPr id="15" name="Rounded Rectangle 14"/>
          <p:cNvSpPr/>
          <p:nvPr/>
        </p:nvSpPr>
        <p:spPr>
          <a:xfrm>
            <a:off x="6126480" y="1920240"/>
            <a:ext cx="2697480" cy="173736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103120"/>
            <a:ext cx="2240280" cy="731520"/>
          </a:xfrm>
          <a:prstGeom prst="rect">
            <a:avLst/>
          </a:prstGeom>
          <a:noFill/>
        </p:spPr>
        <p:txBody>
          <a:bodyPr wrap="square" lIns="0" rIns="0" tIns="0" bIns="0" anchor="t">
            <a:spAutoFit/>
          </a:bodyPr>
          <a:lstStyle/>
          <a:p>
            <a:pPr algn="l"/>
            <a:r>
              <a:rPr sz="4000" b="1" i="0">
                <a:solidFill>
                  <a:srgbClr val="5EE6D0"/>
                </a:solidFill>
                <a:latin typeface="Arial"/>
              </a:rPr>
              <a:t>19/21</a:t>
            </a:r>
          </a:p>
        </p:txBody>
      </p:sp>
      <p:sp>
        <p:nvSpPr>
          <p:cNvPr id="17" name="TextBox 16"/>
          <p:cNvSpPr txBox="1"/>
          <p:nvPr/>
        </p:nvSpPr>
        <p:spPr>
          <a:xfrm>
            <a:off x="6400800" y="2834640"/>
            <a:ext cx="2240280" cy="365760"/>
          </a:xfrm>
          <a:prstGeom prst="rect">
            <a:avLst/>
          </a:prstGeom>
          <a:noFill/>
        </p:spPr>
        <p:txBody>
          <a:bodyPr wrap="square" lIns="0" rIns="0" tIns="0" bIns="0" anchor="t">
            <a:spAutoFit/>
          </a:bodyPr>
          <a:lstStyle/>
          <a:p>
            <a:pPr algn="l"/>
            <a:r>
              <a:rPr sz="1300" b="0" i="0">
                <a:solidFill>
                  <a:srgbClr val="E8EEF5"/>
                </a:solidFill>
                <a:latin typeface="Arial"/>
              </a:rPr>
              <a:t>contradictions caught</a:t>
            </a:r>
          </a:p>
        </p:txBody>
      </p:sp>
      <p:sp>
        <p:nvSpPr>
          <p:cNvPr id="18" name="TextBox 17"/>
          <p:cNvSpPr txBox="1"/>
          <p:nvPr/>
        </p:nvSpPr>
        <p:spPr>
          <a:xfrm>
            <a:off x="6400800" y="3182112"/>
            <a:ext cx="2240280" cy="320040"/>
          </a:xfrm>
          <a:prstGeom prst="rect">
            <a:avLst/>
          </a:prstGeom>
          <a:noFill/>
        </p:spPr>
        <p:txBody>
          <a:bodyPr wrap="square" lIns="0" rIns="0" tIns="0" bIns="0" anchor="t">
            <a:spAutoFit/>
          </a:bodyPr>
          <a:lstStyle/>
          <a:p>
            <a:pPr algn="l"/>
            <a:r>
              <a:rPr sz="1100" b="0" i="0">
                <a:solidFill>
                  <a:srgbClr val="8A9AB0"/>
                </a:solidFill>
                <a:latin typeface="Arial"/>
              </a:rPr>
              <a:t>planted in the corpus; plain RAG: 0</a:t>
            </a:r>
          </a:p>
        </p:txBody>
      </p:sp>
      <p:sp>
        <p:nvSpPr>
          <p:cNvPr id="19" name="Rounded Rectangle 18"/>
          <p:cNvSpPr/>
          <p:nvPr/>
        </p:nvSpPr>
        <p:spPr>
          <a:xfrm>
            <a:off x="9098280" y="1920240"/>
            <a:ext cx="2697480" cy="173736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2103120"/>
            <a:ext cx="2240280" cy="731520"/>
          </a:xfrm>
          <a:prstGeom prst="rect">
            <a:avLst/>
          </a:prstGeom>
          <a:noFill/>
        </p:spPr>
        <p:txBody>
          <a:bodyPr wrap="square" lIns="0" rIns="0" tIns="0" bIns="0" anchor="t">
            <a:spAutoFit/>
          </a:bodyPr>
          <a:lstStyle/>
          <a:p>
            <a:pPr algn="l"/>
            <a:r>
              <a:rPr sz="4000" b="1" i="0">
                <a:solidFill>
                  <a:srgbClr val="4ADE80"/>
                </a:solidFill>
                <a:latin typeface="Arial"/>
              </a:rPr>
              <a:t>0</a:t>
            </a:r>
          </a:p>
        </p:txBody>
      </p:sp>
      <p:sp>
        <p:nvSpPr>
          <p:cNvPr id="21" name="TextBox 20"/>
          <p:cNvSpPr txBox="1"/>
          <p:nvPr/>
        </p:nvSpPr>
        <p:spPr>
          <a:xfrm>
            <a:off x="9372600" y="2834640"/>
            <a:ext cx="2240280" cy="365760"/>
          </a:xfrm>
          <a:prstGeom prst="rect">
            <a:avLst/>
          </a:prstGeom>
          <a:noFill/>
        </p:spPr>
        <p:txBody>
          <a:bodyPr wrap="square" lIns="0" rIns="0" tIns="0" bIns="0" anchor="t">
            <a:spAutoFit/>
          </a:bodyPr>
          <a:lstStyle/>
          <a:p>
            <a:pPr algn="l"/>
            <a:r>
              <a:rPr sz="1300" b="0" i="0">
                <a:solidFill>
                  <a:srgbClr val="E8EEF5"/>
                </a:solidFill>
                <a:latin typeface="Arial"/>
              </a:rPr>
              <a:t>client data leaks</a:t>
            </a:r>
          </a:p>
        </p:txBody>
      </p:sp>
      <p:sp>
        <p:nvSpPr>
          <p:cNvPr id="22" name="TextBox 21"/>
          <p:cNvSpPr txBox="1"/>
          <p:nvPr/>
        </p:nvSpPr>
        <p:spPr>
          <a:xfrm>
            <a:off x="9372600" y="3182112"/>
            <a:ext cx="2240280" cy="320040"/>
          </a:xfrm>
          <a:prstGeom prst="rect">
            <a:avLst/>
          </a:prstGeom>
          <a:noFill/>
        </p:spPr>
        <p:txBody>
          <a:bodyPr wrap="square" lIns="0" rIns="0" tIns="0" bIns="0" anchor="t">
            <a:spAutoFit/>
          </a:bodyPr>
          <a:lstStyle/>
          <a:p>
            <a:pPr algn="l"/>
            <a:r>
              <a:rPr sz="1100" b="0" i="0">
                <a:solidFill>
                  <a:srgbClr val="8A9AB0"/>
                </a:solidFill>
                <a:latin typeface="Arial"/>
              </a:rPr>
              <a:t>access control before retrieval</a:t>
            </a:r>
          </a:p>
        </p:txBody>
      </p:sp>
      <p:sp>
        <p:nvSpPr>
          <p:cNvPr id="23" name="Rounded Rectangle 22"/>
          <p:cNvSpPr/>
          <p:nvPr/>
        </p:nvSpPr>
        <p:spPr>
          <a:xfrm>
            <a:off x="6126480" y="3931920"/>
            <a:ext cx="2697480" cy="173736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114800"/>
            <a:ext cx="2240280" cy="731520"/>
          </a:xfrm>
          <a:prstGeom prst="rect">
            <a:avLst/>
          </a:prstGeom>
          <a:noFill/>
        </p:spPr>
        <p:txBody>
          <a:bodyPr wrap="square" lIns="0" rIns="0" tIns="0" bIns="0" anchor="t">
            <a:spAutoFit/>
          </a:bodyPr>
          <a:lstStyle/>
          <a:p>
            <a:pPr algn="l"/>
            <a:r>
              <a:rPr sz="4000" b="1" i="0">
                <a:solidFill>
                  <a:srgbClr val="F5B84B"/>
                </a:solidFill>
                <a:latin typeface="Arial"/>
              </a:rPr>
              <a:t>0 vs 1</a:t>
            </a:r>
          </a:p>
        </p:txBody>
      </p:sp>
      <p:sp>
        <p:nvSpPr>
          <p:cNvPr id="25" name="TextBox 24"/>
          <p:cNvSpPr txBox="1"/>
          <p:nvPr/>
        </p:nvSpPr>
        <p:spPr>
          <a:xfrm>
            <a:off x="6400800" y="4846320"/>
            <a:ext cx="2240280" cy="365760"/>
          </a:xfrm>
          <a:prstGeom prst="rect">
            <a:avLst/>
          </a:prstGeom>
          <a:noFill/>
        </p:spPr>
        <p:txBody>
          <a:bodyPr wrap="square" lIns="0" rIns="0" tIns="0" bIns="0" anchor="t">
            <a:spAutoFit/>
          </a:bodyPr>
          <a:lstStyle/>
          <a:p>
            <a:pPr algn="l"/>
            <a:r>
              <a:rPr sz="1300" b="0" i="0">
                <a:solidFill>
                  <a:srgbClr val="E8EEF5"/>
                </a:solidFill>
                <a:latin typeface="Arial"/>
              </a:rPr>
              <a:t>prompt-injection leaks</a:t>
            </a:r>
          </a:p>
        </p:txBody>
      </p:sp>
      <p:sp>
        <p:nvSpPr>
          <p:cNvPr id="26" name="TextBox 25"/>
          <p:cNvSpPr txBox="1"/>
          <p:nvPr/>
        </p:nvSpPr>
        <p:spPr>
          <a:xfrm>
            <a:off x="6400800" y="5193792"/>
            <a:ext cx="2240280" cy="320040"/>
          </a:xfrm>
          <a:prstGeom prst="rect">
            <a:avLst/>
          </a:prstGeom>
          <a:noFill/>
        </p:spPr>
        <p:txBody>
          <a:bodyPr wrap="square" lIns="0" rIns="0" tIns="0" bIns="0" anchor="t">
            <a:spAutoFit/>
          </a:bodyPr>
          <a:lstStyle/>
          <a:p>
            <a:pPr algn="l"/>
            <a:r>
              <a:rPr sz="1100" b="0" i="0">
                <a:solidFill>
                  <a:srgbClr val="8A9AB0"/>
                </a:solidFill>
                <a:latin typeface="Arial"/>
              </a:rPr>
              <a:t>Mitosis vs plain RAG</a:t>
            </a:r>
          </a:p>
        </p:txBody>
      </p:sp>
      <p:sp>
        <p:nvSpPr>
          <p:cNvPr id="27" name="Rounded Rectangle 26"/>
          <p:cNvSpPr/>
          <p:nvPr/>
        </p:nvSpPr>
        <p:spPr>
          <a:xfrm>
            <a:off x="9098280" y="3931920"/>
            <a:ext cx="2697480" cy="173736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72600" y="4114800"/>
            <a:ext cx="2240280" cy="731520"/>
          </a:xfrm>
          <a:prstGeom prst="rect">
            <a:avLst/>
          </a:prstGeom>
          <a:noFill/>
        </p:spPr>
        <p:txBody>
          <a:bodyPr wrap="square" lIns="0" rIns="0" tIns="0" bIns="0" anchor="t">
            <a:spAutoFit/>
          </a:bodyPr>
          <a:lstStyle/>
          <a:p>
            <a:pPr algn="l"/>
            <a:r>
              <a:rPr sz="4000" b="1" i="0">
                <a:solidFill>
                  <a:srgbClr val="B18CF0"/>
                </a:solidFill>
                <a:latin typeface="Arial"/>
              </a:rPr>
              <a:t>85%</a:t>
            </a:r>
          </a:p>
        </p:txBody>
      </p:sp>
      <p:sp>
        <p:nvSpPr>
          <p:cNvPr id="29" name="TextBox 28"/>
          <p:cNvSpPr txBox="1"/>
          <p:nvPr/>
        </p:nvSpPr>
        <p:spPr>
          <a:xfrm>
            <a:off x="9372600" y="4846320"/>
            <a:ext cx="2240280" cy="365760"/>
          </a:xfrm>
          <a:prstGeom prst="rect">
            <a:avLst/>
          </a:prstGeom>
          <a:noFill/>
        </p:spPr>
        <p:txBody>
          <a:bodyPr wrap="square" lIns="0" rIns="0" tIns="0" bIns="0" anchor="t">
            <a:spAutoFit/>
          </a:bodyPr>
          <a:lstStyle/>
          <a:p>
            <a:pPr algn="l"/>
            <a:r>
              <a:rPr sz="1300" b="0" i="0">
                <a:solidFill>
                  <a:srgbClr val="E8EEF5"/>
                </a:solidFill>
                <a:latin typeface="Arial"/>
              </a:rPr>
              <a:t>of routing without an LLM call</a:t>
            </a:r>
          </a:p>
        </p:txBody>
      </p:sp>
      <p:sp>
        <p:nvSpPr>
          <p:cNvPr id="30" name="TextBox 29"/>
          <p:cNvSpPr txBox="1"/>
          <p:nvPr/>
        </p:nvSpPr>
        <p:spPr>
          <a:xfrm>
            <a:off x="9372600" y="5193792"/>
            <a:ext cx="2240280" cy="320040"/>
          </a:xfrm>
          <a:prstGeom prst="rect">
            <a:avLst/>
          </a:prstGeom>
          <a:noFill/>
        </p:spPr>
        <p:txBody>
          <a:bodyPr wrap="square" lIns="0" rIns="0" tIns="0" bIns="0" anchor="t">
            <a:spAutoFit/>
          </a:bodyPr>
          <a:lstStyle/>
          <a:p>
            <a:pPr algn="l"/>
            <a:r>
              <a:rPr sz="1100" b="0" i="0">
                <a:solidFill>
                  <a:srgbClr val="8A9AB0"/>
                </a:solidFill>
                <a:latin typeface="Arial"/>
              </a:rPr>
              <a:t>rules + local embeddings</a:t>
            </a:r>
          </a:p>
        </p:txBody>
      </p:sp>
      <p:sp>
        <p:nvSpPr>
          <p:cNvPr id="31" name="TextBox 30"/>
          <p:cNvSpPr txBox="1"/>
          <p:nvPr/>
        </p:nvSpPr>
        <p:spPr>
          <a:xfrm>
            <a:off x="640080" y="5989320"/>
            <a:ext cx="10972800" cy="365760"/>
          </a:xfrm>
          <a:prstGeom prst="rect">
            <a:avLst/>
          </a:prstGeom>
          <a:noFill/>
        </p:spPr>
        <p:txBody>
          <a:bodyPr wrap="square" lIns="0" rIns="0" tIns="0" bIns="0" anchor="t">
            <a:spAutoFit/>
          </a:bodyPr>
          <a:lstStyle/>
          <a:p>
            <a:pPr algn="l"/>
            <a:r>
              <a:rPr sz="1400" b="1" i="0">
                <a:solidFill>
                  <a:srgbClr val="5EE6D0"/>
                </a:solidFill>
                <a:latin typeface="Arial"/>
              </a:rPr>
              <a:t>Security  </a:t>
            </a:r>
            <a:r>
              <a:rPr sz="1400" b="0" i="0">
                <a:solidFill>
                  <a:srgbClr val="8A9AB0"/>
                </a:solidFill>
                <a:latin typeface="Arial"/>
              </a:rPr>
              <a:t>Signed tokens, role checks on every route, per-client views (no IDOR), injections quarantined, PII redacted at ingest.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424"/>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nchor="t">
            <a:spAutoFit/>
          </a:bodyPr>
          <a:lstStyle/>
          <a:p>
            <a:pPr algn="l"/>
            <a:r>
              <a:rPr sz="1200" b="1" i="0">
                <a:solidFill>
                  <a:srgbClr val="5EE6D0"/>
                </a:solidFill>
                <a:latin typeface="Arial"/>
              </a:rPr>
              <a:t>05</a:t>
            </a:r>
            <a:r>
              <a:rPr sz="1200" b="0" i="0">
                <a:solidFill>
                  <a:srgbClr val="8A9AB0"/>
                </a:solidFill>
                <a:latin typeface="Arial"/>
              </a:rPr>
              <a:t>   WHY SD WORX, WHY NOW</a:t>
            </a:r>
          </a:p>
        </p:txBody>
      </p:sp>
      <p:sp>
        <p:nvSpPr>
          <p:cNvPr id="3" name="TextBox 2"/>
          <p:cNvSpPr txBox="1"/>
          <p:nvPr/>
        </p:nvSpPr>
        <p:spPr>
          <a:xfrm>
            <a:off x="640080" y="868680"/>
            <a:ext cx="10972800" cy="822960"/>
          </a:xfrm>
          <a:prstGeom prst="rect">
            <a:avLst/>
          </a:prstGeom>
          <a:noFill/>
        </p:spPr>
        <p:txBody>
          <a:bodyPr wrap="square" lIns="0" rIns="0" tIns="0" bIns="0" anchor="t">
            <a:spAutoFit/>
          </a:bodyPr>
          <a:lstStyle/>
          <a:p>
            <a:pPr algn="l"/>
            <a:r>
              <a:rPr sz="4000" b="1" i="0">
                <a:solidFill>
                  <a:srgbClr val="E8EEF5"/>
                </a:solidFill>
                <a:latin typeface="Arial"/>
              </a:rPr>
              <a:t>The trust layer under SD Worx’s agents.</a:t>
            </a:r>
          </a:p>
        </p:txBody>
      </p:sp>
      <p:sp>
        <p:nvSpPr>
          <p:cNvPr id="4" name="Rounded Rectangle 3"/>
          <p:cNvSpPr/>
          <p:nvPr/>
        </p:nvSpPr>
        <p:spPr>
          <a:xfrm>
            <a:off x="640080" y="1965960"/>
            <a:ext cx="5303520" cy="96012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2130552"/>
            <a:ext cx="4663440" cy="365760"/>
          </a:xfrm>
          <a:prstGeom prst="rect">
            <a:avLst/>
          </a:prstGeom>
          <a:noFill/>
        </p:spPr>
        <p:txBody>
          <a:bodyPr wrap="square" lIns="0" rIns="0" tIns="0" bIns="0" anchor="t">
            <a:spAutoFit/>
          </a:bodyPr>
          <a:lstStyle/>
          <a:p>
            <a:pPr algn="l"/>
            <a:r>
              <a:rPr sz="1600" b="1" i="0">
                <a:solidFill>
                  <a:srgbClr val="E8EEF5"/>
                </a:solidFill>
                <a:latin typeface="Arial"/>
              </a:rPr>
              <a:t>SD Worx AI agents</a:t>
            </a:r>
          </a:p>
        </p:txBody>
      </p:sp>
      <p:sp>
        <p:nvSpPr>
          <p:cNvPr id="6" name="TextBox 5"/>
          <p:cNvSpPr txBox="1"/>
          <p:nvPr/>
        </p:nvSpPr>
        <p:spPr>
          <a:xfrm>
            <a:off x="960119" y="2514600"/>
            <a:ext cx="4663440" cy="320040"/>
          </a:xfrm>
          <a:prstGeom prst="rect">
            <a:avLst/>
          </a:prstGeom>
          <a:noFill/>
        </p:spPr>
        <p:txBody>
          <a:bodyPr wrap="square" lIns="0" rIns="0" tIns="0" bIns="0" anchor="t">
            <a:spAutoFit/>
          </a:bodyPr>
          <a:lstStyle/>
          <a:p>
            <a:pPr algn="l"/>
            <a:r>
              <a:rPr sz="1200" b="0" i="0">
                <a:solidFill>
                  <a:srgbClr val="8A9AB0"/>
                </a:solidFill>
                <a:latin typeface="Arial"/>
              </a:rPr>
              <a:t>agentic payroll, since June 2026</a:t>
            </a:r>
          </a:p>
        </p:txBody>
      </p:sp>
      <p:sp>
        <p:nvSpPr>
          <p:cNvPr id="7" name="Rounded Rectangle 6"/>
          <p:cNvSpPr/>
          <p:nvPr/>
        </p:nvSpPr>
        <p:spPr>
          <a:xfrm>
            <a:off x="640080" y="3154680"/>
            <a:ext cx="5303520" cy="960120"/>
          </a:xfrm>
          <a:prstGeom prst="roundRect">
            <a:avLst>
              <a:gd name="adj" fmla="val 6000"/>
            </a:avLst>
          </a:prstGeom>
          <a:solidFill>
            <a:srgbClr val="0B2A2E"/>
          </a:solidFill>
          <a:ln w="12700">
            <a:solidFill>
              <a:srgbClr val="5EE6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3319272"/>
            <a:ext cx="4663440" cy="365760"/>
          </a:xfrm>
          <a:prstGeom prst="rect">
            <a:avLst/>
          </a:prstGeom>
          <a:noFill/>
        </p:spPr>
        <p:txBody>
          <a:bodyPr wrap="square" lIns="0" rIns="0" tIns="0" bIns="0" anchor="t">
            <a:spAutoFit/>
          </a:bodyPr>
          <a:lstStyle/>
          <a:p>
            <a:pPr algn="l"/>
            <a:r>
              <a:rPr sz="2000" b="1" i="0">
                <a:solidFill>
                  <a:srgbClr val="5EE6D0"/>
                </a:solidFill>
                <a:latin typeface="Arial"/>
              </a:rPr>
              <a:t>Mitosis</a:t>
            </a:r>
          </a:p>
        </p:txBody>
      </p:sp>
      <p:sp>
        <p:nvSpPr>
          <p:cNvPr id="9" name="TextBox 8"/>
          <p:cNvSpPr txBox="1"/>
          <p:nvPr/>
        </p:nvSpPr>
        <p:spPr>
          <a:xfrm>
            <a:off x="960119" y="3703320"/>
            <a:ext cx="4663440" cy="320040"/>
          </a:xfrm>
          <a:prstGeom prst="rect">
            <a:avLst/>
          </a:prstGeom>
          <a:noFill/>
        </p:spPr>
        <p:txBody>
          <a:bodyPr wrap="square" lIns="0" rIns="0" tIns="0" bIns="0" anchor="t">
            <a:spAutoFit/>
          </a:bodyPr>
          <a:lstStyle/>
          <a:p>
            <a:pPr algn="l"/>
            <a:r>
              <a:rPr sz="1200" b="0" i="0">
                <a:solidFill>
                  <a:srgbClr val="8A9AB0"/>
                </a:solidFill>
                <a:latin typeface="Arial"/>
              </a:rPr>
              <a:t>which answer to trust, and who owns it</a:t>
            </a:r>
          </a:p>
        </p:txBody>
      </p:sp>
      <p:sp>
        <p:nvSpPr>
          <p:cNvPr id="10" name="Rounded Rectangle 9"/>
          <p:cNvSpPr/>
          <p:nvPr/>
        </p:nvSpPr>
        <p:spPr>
          <a:xfrm>
            <a:off x="640080" y="4343400"/>
            <a:ext cx="5303520" cy="960120"/>
          </a:xfrm>
          <a:prstGeom prst="roundRect">
            <a:avLst>
              <a:gd name="adj" fmla="val 6000"/>
            </a:avLst>
          </a:prstGeom>
          <a:solidFill>
            <a:srgbClr val="0D1E33"/>
          </a:solidFill>
          <a:ln w="12700">
            <a:solidFill>
              <a:srgbClr val="243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4507992"/>
            <a:ext cx="4663440" cy="365760"/>
          </a:xfrm>
          <a:prstGeom prst="rect">
            <a:avLst/>
          </a:prstGeom>
          <a:noFill/>
        </p:spPr>
        <p:txBody>
          <a:bodyPr wrap="square" lIns="0" rIns="0" tIns="0" bIns="0" anchor="t">
            <a:spAutoFit/>
          </a:bodyPr>
          <a:lstStyle/>
          <a:p>
            <a:pPr algn="l"/>
            <a:r>
              <a:rPr sz="1600" b="1" i="0">
                <a:solidFill>
                  <a:srgbClr val="E8EEF5"/>
                </a:solidFill>
                <a:latin typeface="Arial"/>
              </a:rPr>
              <a:t>Documents, Teams, tickets, client configs</a:t>
            </a:r>
          </a:p>
        </p:txBody>
      </p:sp>
      <p:sp>
        <p:nvSpPr>
          <p:cNvPr id="12" name="TextBox 11"/>
          <p:cNvSpPr txBox="1"/>
          <p:nvPr/>
        </p:nvSpPr>
        <p:spPr>
          <a:xfrm>
            <a:off x="960119" y="4892040"/>
            <a:ext cx="4663440" cy="320040"/>
          </a:xfrm>
          <a:prstGeom prst="rect">
            <a:avLst/>
          </a:prstGeom>
          <a:noFill/>
        </p:spPr>
        <p:txBody>
          <a:bodyPr wrap="square" lIns="0" rIns="0" tIns="0" bIns="0" anchor="t">
            <a:spAutoFit/>
          </a:bodyPr>
          <a:lstStyle/>
          <a:p>
            <a:pPr algn="l"/>
            <a:r>
              <a:rPr sz="1200" b="0" i="0">
                <a:solidFill>
                  <a:srgbClr val="8A9AB0"/>
                </a:solidFill>
                <a:latin typeface="Arial"/>
              </a:rPr>
              <a:t>the knowledge as it really is</a:t>
            </a:r>
          </a:p>
        </p:txBody>
      </p:sp>
      <p:sp>
        <p:nvSpPr>
          <p:cNvPr id="13" name="TextBox 12"/>
          <p:cNvSpPr txBox="1"/>
          <p:nvPr/>
        </p:nvSpPr>
        <p:spPr>
          <a:xfrm>
            <a:off x="6675120" y="1965960"/>
            <a:ext cx="4846320" cy="320040"/>
          </a:xfrm>
          <a:prstGeom prst="rect">
            <a:avLst/>
          </a:prstGeom>
          <a:noFill/>
        </p:spPr>
        <p:txBody>
          <a:bodyPr wrap="square" lIns="0" rIns="0" tIns="0" bIns="0" anchor="t">
            <a:spAutoFit/>
          </a:bodyPr>
          <a:lstStyle/>
          <a:p>
            <a:pPr algn="l"/>
            <a:r>
              <a:rPr sz="1200" b="1" i="0">
                <a:solidFill>
                  <a:srgbClr val="8A9AB0"/>
                </a:solidFill>
                <a:latin typeface="Arial"/>
              </a:rPr>
              <a:t>ROLLOUT</a:t>
            </a:r>
          </a:p>
        </p:txBody>
      </p:sp>
      <p:cxnSp>
        <p:nvCxnSpPr>
          <p:cNvPr id="14" name="Connector 13"/>
          <p:cNvCxnSpPr/>
          <p:nvPr/>
        </p:nvCxnSpPr>
        <p:spPr>
          <a:xfrm>
            <a:off x="6949440" y="2697480"/>
            <a:ext cx="0" cy="758952"/>
          </a:xfrm>
          <a:prstGeom prst="line">
            <a:avLst/>
          </a:prstGeom>
          <a:ln w="19050">
            <a:solidFill>
              <a:srgbClr val="243B57"/>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821424" y="2569464"/>
            <a:ext cx="256032" cy="256032"/>
          </a:xfrm>
          <a:prstGeom prst="ellipse">
            <a:avLst/>
          </a:prstGeom>
          <a:solidFill>
            <a:srgbClr val="12263F"/>
          </a:solidFill>
          <a:ln w="2540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487168"/>
            <a:ext cx="4206240" cy="320040"/>
          </a:xfrm>
          <a:prstGeom prst="rect">
            <a:avLst/>
          </a:prstGeom>
          <a:noFill/>
        </p:spPr>
        <p:txBody>
          <a:bodyPr wrap="square" lIns="0" rIns="0" tIns="0" bIns="0" anchor="t">
            <a:spAutoFit/>
          </a:bodyPr>
          <a:lstStyle/>
          <a:p>
            <a:pPr algn="l"/>
            <a:r>
              <a:rPr sz="1600" b="1" i="0">
                <a:solidFill>
                  <a:srgbClr val="E8EEF5"/>
                </a:solidFill>
                <a:latin typeface="Arial"/>
              </a:rPr>
              <a:t>PC 200 team</a:t>
            </a:r>
          </a:p>
        </p:txBody>
      </p:sp>
      <p:sp>
        <p:nvSpPr>
          <p:cNvPr id="17" name="TextBox 16"/>
          <p:cNvSpPr txBox="1"/>
          <p:nvPr/>
        </p:nvSpPr>
        <p:spPr>
          <a:xfrm>
            <a:off x="7406640" y="2816352"/>
            <a:ext cx="4206240" cy="274320"/>
          </a:xfrm>
          <a:prstGeom prst="rect">
            <a:avLst/>
          </a:prstGeom>
          <a:noFill/>
        </p:spPr>
        <p:txBody>
          <a:bodyPr wrap="square" lIns="0" rIns="0" tIns="0" bIns="0" anchor="t">
            <a:spAutoFit/>
          </a:bodyPr>
          <a:lstStyle/>
          <a:p>
            <a:pPr algn="l"/>
            <a:r>
              <a:rPr sz="1200" b="0" i="0">
                <a:solidFill>
                  <a:srgbClr val="8A9AB0"/>
                </a:solidFill>
                <a:latin typeface="Arial"/>
              </a:rPr>
              <a:t>one joint committee, one team</a:t>
            </a:r>
          </a:p>
        </p:txBody>
      </p:sp>
      <p:cxnSp>
        <p:nvCxnSpPr>
          <p:cNvPr id="18" name="Connector 17"/>
          <p:cNvCxnSpPr/>
          <p:nvPr/>
        </p:nvCxnSpPr>
        <p:spPr>
          <a:xfrm>
            <a:off x="6949440" y="3474720"/>
            <a:ext cx="0" cy="758952"/>
          </a:xfrm>
          <a:prstGeom prst="line">
            <a:avLst/>
          </a:prstGeom>
          <a:ln w="19050">
            <a:solidFill>
              <a:srgbClr val="243B57"/>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793992" y="3319272"/>
            <a:ext cx="310896" cy="310896"/>
          </a:xfrm>
          <a:prstGeom prst="ellipse">
            <a:avLst/>
          </a:prstGeom>
          <a:solidFill>
            <a:srgbClr val="12263F"/>
          </a:solidFill>
          <a:ln w="25400">
            <a:solidFill>
              <a:srgbClr val="5EE6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3264408"/>
            <a:ext cx="4206240" cy="320040"/>
          </a:xfrm>
          <a:prstGeom prst="rect">
            <a:avLst/>
          </a:prstGeom>
          <a:noFill/>
        </p:spPr>
        <p:txBody>
          <a:bodyPr wrap="square" lIns="0" rIns="0" tIns="0" bIns="0" anchor="t">
            <a:spAutoFit/>
          </a:bodyPr>
          <a:lstStyle/>
          <a:p>
            <a:pPr algn="l"/>
            <a:r>
              <a:rPr sz="1600" b="1" i="0">
                <a:solidFill>
                  <a:srgbClr val="E8EEF5"/>
                </a:solidFill>
                <a:latin typeface="Arial"/>
              </a:rPr>
              <a:t>All joint committees</a:t>
            </a:r>
          </a:p>
        </p:txBody>
      </p:sp>
      <p:sp>
        <p:nvSpPr>
          <p:cNvPr id="21" name="TextBox 20"/>
          <p:cNvSpPr txBox="1"/>
          <p:nvPr/>
        </p:nvSpPr>
        <p:spPr>
          <a:xfrm>
            <a:off x="7406640" y="3593592"/>
            <a:ext cx="4206240" cy="274320"/>
          </a:xfrm>
          <a:prstGeom prst="rect">
            <a:avLst/>
          </a:prstGeom>
          <a:noFill/>
        </p:spPr>
        <p:txBody>
          <a:bodyPr wrap="square" lIns="0" rIns="0" tIns="0" bIns="0" anchor="t">
            <a:spAutoFit/>
          </a:bodyPr>
          <a:lstStyle/>
          <a:p>
            <a:pPr algn="l"/>
            <a:r>
              <a:rPr sz="1200" b="0" i="0">
                <a:solidFill>
                  <a:srgbClr val="8A9AB0"/>
                </a:solidFill>
                <a:latin typeface="Arial"/>
              </a:rPr>
              <a:t>Belgium</a:t>
            </a:r>
          </a:p>
        </p:txBody>
      </p:sp>
      <p:cxnSp>
        <p:nvCxnSpPr>
          <p:cNvPr id="22" name="Connector 21"/>
          <p:cNvCxnSpPr/>
          <p:nvPr/>
        </p:nvCxnSpPr>
        <p:spPr>
          <a:xfrm>
            <a:off x="6949440" y="4251960"/>
            <a:ext cx="0" cy="758952"/>
          </a:xfrm>
          <a:prstGeom prst="line">
            <a:avLst/>
          </a:prstGeom>
          <a:ln w="19050">
            <a:solidFill>
              <a:srgbClr val="243B57"/>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766559" y="4069080"/>
            <a:ext cx="365760" cy="365760"/>
          </a:xfrm>
          <a:prstGeom prst="ellipse">
            <a:avLst/>
          </a:prstGeom>
          <a:solidFill>
            <a:srgbClr val="12263F"/>
          </a:solidFill>
          <a:ln w="25400">
            <a:solidFill>
              <a:srgbClr val="5EE6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4041648"/>
            <a:ext cx="4206240" cy="320040"/>
          </a:xfrm>
          <a:prstGeom prst="rect">
            <a:avLst/>
          </a:prstGeom>
          <a:noFill/>
        </p:spPr>
        <p:txBody>
          <a:bodyPr wrap="square" lIns="0" rIns="0" tIns="0" bIns="0" anchor="t">
            <a:spAutoFit/>
          </a:bodyPr>
          <a:lstStyle/>
          <a:p>
            <a:pPr algn="l"/>
            <a:r>
              <a:rPr sz="1600" b="1" i="0">
                <a:solidFill>
                  <a:srgbClr val="E8EEF5"/>
                </a:solidFill>
                <a:latin typeface="Arial"/>
              </a:rPr>
              <a:t>27 countries</a:t>
            </a:r>
          </a:p>
        </p:txBody>
      </p:sp>
      <p:sp>
        <p:nvSpPr>
          <p:cNvPr id="25" name="TextBox 24"/>
          <p:cNvSpPr txBox="1"/>
          <p:nvPr/>
        </p:nvSpPr>
        <p:spPr>
          <a:xfrm>
            <a:off x="7406640" y="4370832"/>
            <a:ext cx="4206240" cy="274320"/>
          </a:xfrm>
          <a:prstGeom prst="rect">
            <a:avLst/>
          </a:prstGeom>
          <a:noFill/>
        </p:spPr>
        <p:txBody>
          <a:bodyPr wrap="square" lIns="0" rIns="0" tIns="0" bIns="0" anchor="t">
            <a:spAutoFit/>
          </a:bodyPr>
          <a:lstStyle/>
          <a:p>
            <a:pPr algn="l"/>
            <a:r>
              <a:rPr sz="1200" b="0" i="0">
                <a:solidFill>
                  <a:srgbClr val="8A9AB0"/>
                </a:solidFill>
                <a:latin typeface="Arial"/>
              </a:rPr>
              <a:t>every SD Worx payroll desk</a:t>
            </a:r>
          </a:p>
        </p:txBody>
      </p:sp>
      <p:sp>
        <p:nvSpPr>
          <p:cNvPr id="26" name="Oval 25"/>
          <p:cNvSpPr/>
          <p:nvPr/>
        </p:nvSpPr>
        <p:spPr>
          <a:xfrm>
            <a:off x="6739127" y="4818888"/>
            <a:ext cx="420624" cy="420624"/>
          </a:xfrm>
          <a:prstGeom prst="ellipse">
            <a:avLst/>
          </a:prstGeom>
          <a:solidFill>
            <a:srgbClr val="12263F"/>
          </a:solidFill>
          <a:ln w="25400">
            <a:solidFill>
              <a:srgbClr val="5EE6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4818888"/>
            <a:ext cx="4206240" cy="320040"/>
          </a:xfrm>
          <a:prstGeom prst="rect">
            <a:avLst/>
          </a:prstGeom>
          <a:noFill/>
        </p:spPr>
        <p:txBody>
          <a:bodyPr wrap="square" lIns="0" rIns="0" tIns="0" bIns="0" anchor="t">
            <a:spAutoFit/>
          </a:bodyPr>
          <a:lstStyle/>
          <a:p>
            <a:pPr algn="l"/>
            <a:r>
              <a:rPr sz="1600" b="1" i="0">
                <a:solidFill>
                  <a:srgbClr val="E8EEF5"/>
                </a:solidFill>
                <a:latin typeface="Arial"/>
              </a:rPr>
              <a:t>mysdworx</a:t>
            </a:r>
          </a:p>
        </p:txBody>
      </p:sp>
      <p:sp>
        <p:nvSpPr>
          <p:cNvPr id="28" name="TextBox 27"/>
          <p:cNvSpPr txBox="1"/>
          <p:nvPr/>
        </p:nvSpPr>
        <p:spPr>
          <a:xfrm>
            <a:off x="7406640" y="5148072"/>
            <a:ext cx="4206240" cy="274320"/>
          </a:xfrm>
          <a:prstGeom prst="rect">
            <a:avLst/>
          </a:prstGeom>
          <a:noFill/>
        </p:spPr>
        <p:txBody>
          <a:bodyPr wrap="square" lIns="0" rIns="0" tIns="0" bIns="0" anchor="t">
            <a:spAutoFit/>
          </a:bodyPr>
          <a:lstStyle/>
          <a:p>
            <a:pPr algn="l"/>
            <a:r>
              <a:rPr sz="1200" b="0" i="0">
                <a:solidFill>
                  <a:srgbClr val="8A9AB0"/>
                </a:solidFill>
                <a:latin typeface="Arial"/>
              </a:rPr>
              <a:t>client HR admins, same verified answers</a:t>
            </a:r>
          </a:p>
        </p:txBody>
      </p:sp>
      <p:sp>
        <p:nvSpPr>
          <p:cNvPr id="29" name="TextBox 28"/>
          <p:cNvSpPr txBox="1"/>
          <p:nvPr/>
        </p:nvSpPr>
        <p:spPr>
          <a:xfrm>
            <a:off x="640080" y="5760720"/>
            <a:ext cx="10972800" cy="640080"/>
          </a:xfrm>
          <a:prstGeom prst="rect">
            <a:avLst/>
          </a:prstGeom>
          <a:noFill/>
        </p:spPr>
        <p:txBody>
          <a:bodyPr wrap="square" lIns="0" rIns="0" tIns="0" bIns="0" anchor="t">
            <a:spAutoFit/>
          </a:bodyPr>
          <a:lstStyle/>
          <a:p>
            <a:pPr algn="l"/>
            <a:r>
              <a:rPr sz="3400" b="1" i="0">
                <a:solidFill>
                  <a:srgbClr val="E8EEF5"/>
                </a:solidFill>
                <a:latin typeface="Arial"/>
              </a:rPr>
              <a:t>Find it. </a:t>
            </a:r>
            <a:r>
              <a:rPr sz="3400" b="1" i="0">
                <a:solidFill>
                  <a:srgbClr val="E8EEF5"/>
                </a:solidFill>
                <a:latin typeface="Arial"/>
              </a:rPr>
              <a:t>Understand it. </a:t>
            </a:r>
            <a:r>
              <a:rPr sz="3400" b="1" i="0">
                <a:solidFill>
                  <a:srgbClr val="5EE6D0"/>
                </a:solidFill>
                <a:latin typeface="Arial"/>
              </a:rPr>
              <a:t>Trust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